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7" r:id="rId4"/>
    <p:sldId id="258" r:id="rId5"/>
    <p:sldId id="268" r:id="rId6"/>
    <p:sldId id="260" r:id="rId7"/>
    <p:sldId id="261" r:id="rId8"/>
    <p:sldId id="272" r:id="rId9"/>
    <p:sldId id="269" r:id="rId10"/>
    <p:sldId id="270" r:id="rId11"/>
    <p:sldId id="259" r:id="rId12"/>
    <p:sldId id="263" r:id="rId13"/>
    <p:sldId id="264" r:id="rId14"/>
    <p:sldId id="271" r:id="rId15"/>
    <p:sldId id="265" r:id="rId16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15" d="100"/>
          <a:sy n="115" d="100"/>
        </p:scale>
        <p:origin x="1516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5300" y="59878"/>
            <a:ext cx="194500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Abhishek,</a:t>
            </a:r>
            <a:r>
              <a:rPr spc="15" dirty="0"/>
              <a:t> </a:t>
            </a:r>
            <a:r>
              <a:rPr dirty="0"/>
              <a:t>Akshat,</a:t>
            </a:r>
            <a:r>
              <a:rPr spc="15" dirty="0"/>
              <a:t> </a:t>
            </a:r>
            <a:r>
              <a:rPr dirty="0"/>
              <a:t>Anoop,</a:t>
            </a:r>
            <a:r>
              <a:rPr spc="15" dirty="0"/>
              <a:t> </a:t>
            </a:r>
            <a:r>
              <a:rPr dirty="0"/>
              <a:t>Gaurav</a:t>
            </a:r>
            <a:r>
              <a:rPr spc="185" dirty="0"/>
              <a:t> </a:t>
            </a:r>
            <a:r>
              <a:rPr spc="-10" dirty="0"/>
              <a:t>(KIET)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February </a:t>
            </a:r>
            <a:r>
              <a:rPr dirty="0"/>
              <a:t>23,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10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Abhishek,</a:t>
            </a:r>
            <a:r>
              <a:rPr spc="15" dirty="0"/>
              <a:t> </a:t>
            </a:r>
            <a:r>
              <a:rPr dirty="0"/>
              <a:t>Akshat,</a:t>
            </a:r>
            <a:r>
              <a:rPr spc="15" dirty="0"/>
              <a:t> </a:t>
            </a:r>
            <a:r>
              <a:rPr dirty="0"/>
              <a:t>Anoop,</a:t>
            </a:r>
            <a:r>
              <a:rPr spc="15" dirty="0"/>
              <a:t> </a:t>
            </a:r>
            <a:r>
              <a:rPr dirty="0"/>
              <a:t>Gaurav</a:t>
            </a:r>
            <a:r>
              <a:rPr spc="185" dirty="0"/>
              <a:t> </a:t>
            </a:r>
            <a:r>
              <a:rPr spc="-10" dirty="0"/>
              <a:t>(KIET)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February </a:t>
            </a:r>
            <a:r>
              <a:rPr dirty="0"/>
              <a:t>23,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10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Abhishek,</a:t>
            </a:r>
            <a:r>
              <a:rPr spc="15" dirty="0"/>
              <a:t> </a:t>
            </a:r>
            <a:r>
              <a:rPr dirty="0"/>
              <a:t>Akshat,</a:t>
            </a:r>
            <a:r>
              <a:rPr spc="15" dirty="0"/>
              <a:t> </a:t>
            </a:r>
            <a:r>
              <a:rPr dirty="0"/>
              <a:t>Anoop,</a:t>
            </a:r>
            <a:r>
              <a:rPr spc="15" dirty="0"/>
              <a:t> </a:t>
            </a:r>
            <a:r>
              <a:rPr dirty="0"/>
              <a:t>Gaurav</a:t>
            </a:r>
            <a:r>
              <a:rPr spc="185" dirty="0"/>
              <a:t> </a:t>
            </a:r>
            <a:r>
              <a:rPr spc="-10" dirty="0"/>
              <a:t>(KIET)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February </a:t>
            </a:r>
            <a:r>
              <a:rPr dirty="0"/>
              <a:t>23,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10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0" y="3346348"/>
            <a:ext cx="1536065" cy="109855"/>
          </a:xfrm>
          <a:custGeom>
            <a:avLst/>
            <a:gdLst/>
            <a:ahLst/>
            <a:cxnLst/>
            <a:rect l="l" t="t" r="r" b="b"/>
            <a:pathLst>
              <a:path w="1536065" h="109854">
                <a:moveTo>
                  <a:pt x="1535976" y="0"/>
                </a:moveTo>
                <a:lnTo>
                  <a:pt x="0" y="0"/>
                </a:lnTo>
                <a:lnTo>
                  <a:pt x="0" y="109651"/>
                </a:lnTo>
                <a:lnTo>
                  <a:pt x="1535976" y="109651"/>
                </a:lnTo>
                <a:lnTo>
                  <a:pt x="1535976" y="0"/>
                </a:lnTo>
                <a:close/>
              </a:path>
            </a:pathLst>
          </a:custGeom>
          <a:solidFill>
            <a:srgbClr val="19195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bg object 32"/>
          <p:cNvSpPr/>
          <p:nvPr/>
        </p:nvSpPr>
        <p:spPr>
          <a:xfrm>
            <a:off x="1535976" y="3346348"/>
            <a:ext cx="1536065" cy="109855"/>
          </a:xfrm>
          <a:custGeom>
            <a:avLst/>
            <a:gdLst/>
            <a:ahLst/>
            <a:cxnLst/>
            <a:rect l="l" t="t" r="r" b="b"/>
            <a:pathLst>
              <a:path w="1536064" h="109854">
                <a:moveTo>
                  <a:pt x="1535976" y="0"/>
                </a:moveTo>
                <a:lnTo>
                  <a:pt x="0" y="0"/>
                </a:lnTo>
                <a:lnTo>
                  <a:pt x="0" y="109651"/>
                </a:lnTo>
                <a:lnTo>
                  <a:pt x="1535976" y="109651"/>
                </a:lnTo>
                <a:lnTo>
                  <a:pt x="1535976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bg object 33"/>
          <p:cNvSpPr/>
          <p:nvPr/>
        </p:nvSpPr>
        <p:spPr>
          <a:xfrm>
            <a:off x="3071952" y="3346348"/>
            <a:ext cx="1536065" cy="109855"/>
          </a:xfrm>
          <a:custGeom>
            <a:avLst/>
            <a:gdLst/>
            <a:ahLst/>
            <a:cxnLst/>
            <a:rect l="l" t="t" r="r" b="b"/>
            <a:pathLst>
              <a:path w="1536064" h="109854">
                <a:moveTo>
                  <a:pt x="1535976" y="0"/>
                </a:moveTo>
                <a:lnTo>
                  <a:pt x="0" y="0"/>
                </a:lnTo>
                <a:lnTo>
                  <a:pt x="0" y="109651"/>
                </a:lnTo>
                <a:lnTo>
                  <a:pt x="1535976" y="109651"/>
                </a:lnTo>
                <a:lnTo>
                  <a:pt x="1535976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Abhishek,</a:t>
            </a:r>
            <a:r>
              <a:rPr spc="15" dirty="0"/>
              <a:t> </a:t>
            </a:r>
            <a:r>
              <a:rPr dirty="0"/>
              <a:t>Akshat,</a:t>
            </a:r>
            <a:r>
              <a:rPr spc="15" dirty="0"/>
              <a:t> </a:t>
            </a:r>
            <a:r>
              <a:rPr dirty="0"/>
              <a:t>Anoop,</a:t>
            </a:r>
            <a:r>
              <a:rPr spc="15" dirty="0"/>
              <a:t> </a:t>
            </a:r>
            <a:r>
              <a:rPr dirty="0"/>
              <a:t>Gaurav</a:t>
            </a:r>
            <a:r>
              <a:rPr spc="185" dirty="0"/>
              <a:t> </a:t>
            </a:r>
            <a:r>
              <a:rPr spc="-10" dirty="0"/>
              <a:t>(KIET)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February </a:t>
            </a:r>
            <a:r>
              <a:rPr dirty="0"/>
              <a:t>23,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10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Abhishek,</a:t>
            </a:r>
            <a:r>
              <a:rPr spc="15" dirty="0"/>
              <a:t> </a:t>
            </a:r>
            <a:r>
              <a:rPr dirty="0"/>
              <a:t>Akshat,</a:t>
            </a:r>
            <a:r>
              <a:rPr spc="15" dirty="0"/>
              <a:t> </a:t>
            </a:r>
            <a:r>
              <a:rPr dirty="0"/>
              <a:t>Anoop,</a:t>
            </a:r>
            <a:r>
              <a:rPr spc="15" dirty="0"/>
              <a:t> </a:t>
            </a:r>
            <a:r>
              <a:rPr dirty="0"/>
              <a:t>Gaurav</a:t>
            </a:r>
            <a:r>
              <a:rPr spc="185" dirty="0"/>
              <a:t> </a:t>
            </a:r>
            <a:r>
              <a:rPr spc="-10" dirty="0"/>
              <a:t>(KIET)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February </a:t>
            </a:r>
            <a:r>
              <a:rPr dirty="0"/>
              <a:t>23,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10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3167268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59878"/>
            <a:ext cx="3859529" cy="4718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02932" y="970608"/>
            <a:ext cx="4043045" cy="154405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467" y="3351784"/>
            <a:ext cx="146685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Abhishek,</a:t>
            </a:r>
            <a:r>
              <a:rPr spc="15" dirty="0"/>
              <a:t> </a:t>
            </a:r>
            <a:r>
              <a:rPr dirty="0"/>
              <a:t>Akshat,</a:t>
            </a:r>
            <a:r>
              <a:rPr spc="15" dirty="0"/>
              <a:t> </a:t>
            </a:r>
            <a:r>
              <a:rPr dirty="0"/>
              <a:t>Anoop,</a:t>
            </a:r>
            <a:r>
              <a:rPr spc="15" dirty="0"/>
              <a:t> </a:t>
            </a:r>
            <a:r>
              <a:rPr dirty="0"/>
              <a:t>Gaurav</a:t>
            </a:r>
            <a:r>
              <a:rPr spc="185" dirty="0"/>
              <a:t> </a:t>
            </a:r>
            <a:r>
              <a:rPr spc="-10" dirty="0"/>
              <a:t>(KIET)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409111" y="3351784"/>
            <a:ext cx="633729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r>
              <a:rPr spc="-10" dirty="0"/>
              <a:t>February </a:t>
            </a:r>
            <a:r>
              <a:rPr dirty="0"/>
              <a:t>23,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99153" y="3351784"/>
            <a:ext cx="25400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‹#›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slide" Target="slide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5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5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5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slide" Target="slide1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slide" Target="slide15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7743" y="17424"/>
            <a:ext cx="4483735" cy="973455"/>
            <a:chOff x="87743" y="17424"/>
            <a:chExt cx="4483735" cy="973455"/>
          </a:xfrm>
        </p:grpSpPr>
        <p:sp>
          <p:nvSpPr>
            <p:cNvPr id="3" name="object 3"/>
            <p:cNvSpPr/>
            <p:nvPr/>
          </p:nvSpPr>
          <p:spPr>
            <a:xfrm>
              <a:off x="87743" y="17424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38544" y="80681"/>
              <a:ext cx="4432935" cy="909955"/>
            </a:xfrm>
            <a:custGeom>
              <a:avLst/>
              <a:gdLst/>
              <a:ahLst/>
              <a:cxnLst/>
              <a:rect l="l" t="t" r="r" b="b"/>
              <a:pathLst>
                <a:path w="4432935" h="909955">
                  <a:moveTo>
                    <a:pt x="4432566" y="0"/>
                  </a:moveTo>
                  <a:lnTo>
                    <a:pt x="0" y="0"/>
                  </a:lnTo>
                  <a:lnTo>
                    <a:pt x="0" y="909729"/>
                  </a:lnTo>
                  <a:lnTo>
                    <a:pt x="4432566" y="909729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7743" y="61844"/>
              <a:ext cx="4432935" cy="878205"/>
            </a:xfrm>
            <a:custGeom>
              <a:avLst/>
              <a:gdLst/>
              <a:ahLst/>
              <a:cxnLst/>
              <a:rect l="l" t="t" r="r" b="b"/>
              <a:pathLst>
                <a:path w="4432935" h="878205">
                  <a:moveTo>
                    <a:pt x="4432566" y="0"/>
                  </a:moveTo>
                  <a:lnTo>
                    <a:pt x="0" y="0"/>
                  </a:lnTo>
                  <a:lnTo>
                    <a:pt x="0" y="826964"/>
                  </a:lnTo>
                  <a:lnTo>
                    <a:pt x="4008" y="846689"/>
                  </a:lnTo>
                  <a:lnTo>
                    <a:pt x="14922" y="862842"/>
                  </a:lnTo>
                  <a:lnTo>
                    <a:pt x="31075" y="873756"/>
                  </a:lnTo>
                  <a:lnTo>
                    <a:pt x="50800" y="877765"/>
                  </a:lnTo>
                  <a:lnTo>
                    <a:pt x="4381765" y="877765"/>
                  </a:lnTo>
                  <a:lnTo>
                    <a:pt x="4401490" y="873756"/>
                  </a:lnTo>
                  <a:lnTo>
                    <a:pt x="4417643" y="862842"/>
                  </a:lnTo>
                  <a:lnTo>
                    <a:pt x="4428558" y="846689"/>
                  </a:lnTo>
                  <a:lnTo>
                    <a:pt x="4432566" y="826964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8544" y="80681"/>
            <a:ext cx="4432935" cy="706604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179070" marR="272415" algn="ctr">
              <a:lnSpc>
                <a:spcPct val="106700"/>
              </a:lnSpc>
              <a:spcBef>
                <a:spcPts val="330"/>
              </a:spcBef>
            </a:pP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AyurPharma:</a:t>
            </a:r>
            <a:r>
              <a:rPr sz="1400" spc="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lang="en-US" sz="1400" dirty="0">
                <a:solidFill>
                  <a:schemeClr val="bg1"/>
                </a:solidFill>
              </a:rPr>
              <a:t>Integrating Traditional Knowledge with Modern Medicines</a:t>
            </a:r>
          </a:p>
          <a:p>
            <a:pPr marL="179070" marR="272415" algn="ctr">
              <a:lnSpc>
                <a:spcPct val="106700"/>
              </a:lnSpc>
              <a:spcBef>
                <a:spcPts val="330"/>
              </a:spcBef>
            </a:pP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Major</a:t>
            </a:r>
            <a:r>
              <a:rPr sz="11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Project</a:t>
            </a:r>
            <a:r>
              <a:rPr sz="1100" spc="-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(8th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Semester)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59966" y="1728564"/>
            <a:ext cx="1990089" cy="63478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0"/>
              </a:spcBef>
            </a:pPr>
            <a:r>
              <a:rPr lang="en-IN" sz="1100" spc="-30" dirty="0">
                <a:latin typeface="Tahoma"/>
                <a:cs typeface="Tahoma"/>
              </a:rPr>
              <a:t> </a:t>
            </a:r>
            <a:r>
              <a:rPr sz="900" spc="-30" dirty="0">
                <a:latin typeface="Tahoma"/>
                <a:cs typeface="Tahoma"/>
              </a:rPr>
              <a:t>Abhishek</a:t>
            </a:r>
            <a:r>
              <a:rPr lang="en-IN" sz="900" spc="-30" dirty="0">
                <a:latin typeface="Tahoma"/>
                <a:cs typeface="Tahoma"/>
              </a:rPr>
              <a:t> Shakya</a:t>
            </a:r>
          </a:p>
          <a:p>
            <a:pPr marL="12700" algn="ctr">
              <a:lnSpc>
                <a:spcPct val="100000"/>
              </a:lnSpc>
              <a:spcBef>
                <a:spcPts val="90"/>
              </a:spcBef>
            </a:pPr>
            <a:r>
              <a:rPr sz="900" spc="-40" dirty="0">
                <a:latin typeface="Tahoma"/>
                <a:cs typeface="Tahoma"/>
              </a:rPr>
              <a:t> </a:t>
            </a:r>
            <a:r>
              <a:rPr sz="900" spc="-10" dirty="0">
                <a:latin typeface="Tahoma"/>
                <a:cs typeface="Tahoma"/>
              </a:rPr>
              <a:t>Akshat</a:t>
            </a:r>
            <a:r>
              <a:rPr lang="en-IN" sz="900" spc="-10" dirty="0">
                <a:latin typeface="Tahoma"/>
                <a:cs typeface="Tahoma"/>
              </a:rPr>
              <a:t> Sharma</a:t>
            </a:r>
          </a:p>
          <a:p>
            <a:pPr marL="12700" algn="ctr">
              <a:lnSpc>
                <a:spcPct val="100000"/>
              </a:lnSpc>
              <a:spcBef>
                <a:spcPts val="90"/>
              </a:spcBef>
            </a:pPr>
            <a:r>
              <a:rPr sz="900" spc="-40" dirty="0">
                <a:latin typeface="Tahoma"/>
                <a:cs typeface="Tahoma"/>
              </a:rPr>
              <a:t> </a:t>
            </a:r>
            <a:r>
              <a:rPr sz="900" spc="-20" dirty="0">
                <a:latin typeface="Tahoma"/>
                <a:cs typeface="Tahoma"/>
              </a:rPr>
              <a:t>Anoop</a:t>
            </a:r>
            <a:r>
              <a:rPr lang="en-IN" sz="900" spc="-20" dirty="0">
                <a:latin typeface="Tahoma"/>
                <a:cs typeface="Tahoma"/>
              </a:rPr>
              <a:t> Kumar Singh</a:t>
            </a:r>
            <a:r>
              <a:rPr sz="900" spc="-40" dirty="0">
                <a:latin typeface="Tahoma"/>
                <a:cs typeface="Tahoma"/>
              </a:rPr>
              <a:t> </a:t>
            </a:r>
            <a:endParaRPr lang="en-IN" sz="900" spc="-40" dirty="0">
              <a:latin typeface="Tahoma"/>
              <a:cs typeface="Tahoma"/>
            </a:endParaRPr>
          </a:p>
          <a:p>
            <a:pPr marL="12700" algn="ctr">
              <a:lnSpc>
                <a:spcPct val="100000"/>
              </a:lnSpc>
              <a:spcBef>
                <a:spcPts val="90"/>
              </a:spcBef>
            </a:pPr>
            <a:r>
              <a:rPr lang="en-IN" sz="900" spc="-40" dirty="0">
                <a:latin typeface="Tahoma"/>
                <a:cs typeface="Tahoma"/>
              </a:rPr>
              <a:t> </a:t>
            </a:r>
            <a:r>
              <a:rPr sz="900" spc="-25" dirty="0">
                <a:latin typeface="Tahoma"/>
                <a:cs typeface="Tahoma"/>
              </a:rPr>
              <a:t>Gaurav</a:t>
            </a:r>
            <a:r>
              <a:rPr lang="en-IN" sz="900" spc="-25" dirty="0">
                <a:latin typeface="Tahoma"/>
                <a:cs typeface="Tahoma"/>
              </a:rPr>
              <a:t> Yadav</a:t>
            </a:r>
            <a:endParaRPr sz="900" dirty="0">
              <a:latin typeface="Tahoma"/>
              <a:cs typeface="Tahoma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9966" y="1144955"/>
            <a:ext cx="1783284" cy="518041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238834" y="2521253"/>
            <a:ext cx="2131060" cy="817531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065" marR="5080" algn="ctr">
              <a:lnSpc>
                <a:spcPts val="950"/>
              </a:lnSpc>
              <a:spcBef>
                <a:spcPts val="135"/>
              </a:spcBef>
            </a:pPr>
            <a:r>
              <a:rPr sz="800" dirty="0">
                <a:latin typeface="Arial MT"/>
                <a:cs typeface="Arial MT"/>
              </a:rPr>
              <a:t>Computer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spc="-30" dirty="0">
                <a:latin typeface="Arial MT"/>
                <a:cs typeface="Arial MT"/>
              </a:rPr>
              <a:t>Science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and</a:t>
            </a:r>
            <a:r>
              <a:rPr sz="800" spc="2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Information</a:t>
            </a:r>
            <a:r>
              <a:rPr sz="800" spc="15" dirty="0">
                <a:latin typeface="Arial MT"/>
                <a:cs typeface="Arial MT"/>
              </a:rPr>
              <a:t> </a:t>
            </a:r>
            <a:r>
              <a:rPr sz="800" spc="-20" dirty="0">
                <a:latin typeface="Arial MT"/>
                <a:cs typeface="Arial MT"/>
              </a:rPr>
              <a:t>Technology </a:t>
            </a:r>
            <a:r>
              <a:rPr sz="800" dirty="0">
                <a:latin typeface="Arial MT"/>
                <a:cs typeface="Arial MT"/>
              </a:rPr>
              <a:t>KIET</a:t>
            </a:r>
            <a:r>
              <a:rPr sz="800" spc="80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Group</a:t>
            </a:r>
            <a:r>
              <a:rPr sz="800" spc="8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of</a:t>
            </a:r>
            <a:r>
              <a:rPr sz="800" spc="85" dirty="0">
                <a:latin typeface="Arial MT"/>
                <a:cs typeface="Arial MT"/>
              </a:rPr>
              <a:t> </a:t>
            </a:r>
            <a:r>
              <a:rPr sz="800" dirty="0">
                <a:latin typeface="Arial MT"/>
                <a:cs typeface="Arial MT"/>
              </a:rPr>
              <a:t>Institutions,</a:t>
            </a:r>
            <a:r>
              <a:rPr sz="800" spc="85" dirty="0">
                <a:latin typeface="Arial MT"/>
                <a:cs typeface="Arial MT"/>
              </a:rPr>
              <a:t> </a:t>
            </a:r>
            <a:r>
              <a:rPr sz="800" spc="-10" dirty="0">
                <a:latin typeface="Arial MT"/>
                <a:cs typeface="Arial MT"/>
              </a:rPr>
              <a:t>Ghaziabad</a:t>
            </a:r>
            <a:endParaRPr sz="800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550"/>
              </a:spcBef>
            </a:pPr>
            <a:r>
              <a:rPr sz="800" b="1" spc="-45" dirty="0">
                <a:latin typeface="Arial"/>
                <a:cs typeface="Arial"/>
              </a:rPr>
              <a:t>Supervised</a:t>
            </a:r>
            <a:r>
              <a:rPr sz="800" b="1" spc="60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by:</a:t>
            </a:r>
            <a:r>
              <a:rPr sz="800" b="1" spc="170" dirty="0">
                <a:latin typeface="Arial"/>
                <a:cs typeface="Arial"/>
              </a:rPr>
              <a:t> </a:t>
            </a:r>
            <a:r>
              <a:rPr sz="800" b="1" dirty="0">
                <a:latin typeface="Arial"/>
                <a:cs typeface="Arial"/>
              </a:rPr>
              <a:t>Mr.</a:t>
            </a:r>
            <a:r>
              <a:rPr sz="800" b="1" spc="160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Madhukar</a:t>
            </a:r>
            <a:endParaRPr sz="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25"/>
              </a:spcBef>
            </a:pPr>
            <a:endParaRPr sz="8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lang="en-IN" sz="1100" spc="-45" dirty="0">
                <a:latin typeface="Tahoma"/>
                <a:cs typeface="Tahoma"/>
              </a:rPr>
              <a:t>MAY 4</a:t>
            </a:r>
            <a:r>
              <a:rPr sz="1100" spc="-25" dirty="0">
                <a:latin typeface="Tahoma"/>
                <a:cs typeface="Tahoma"/>
              </a:rPr>
              <a:t>,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2026</a:t>
            </a:r>
            <a:endParaRPr sz="1100" dirty="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Abhishek,</a:t>
            </a:r>
            <a:r>
              <a:rPr spc="15" dirty="0"/>
              <a:t> </a:t>
            </a:r>
            <a:r>
              <a:rPr dirty="0"/>
              <a:t>Akshat,</a:t>
            </a:r>
            <a:r>
              <a:rPr spc="15" dirty="0"/>
              <a:t> </a:t>
            </a:r>
            <a:r>
              <a:rPr dirty="0"/>
              <a:t>Anoop,</a:t>
            </a:r>
            <a:r>
              <a:rPr spc="15" dirty="0"/>
              <a:t> </a:t>
            </a:r>
            <a:r>
              <a:rPr dirty="0"/>
              <a:t>Gaurav</a:t>
            </a:r>
            <a:r>
              <a:rPr spc="185" dirty="0"/>
              <a:t> </a:t>
            </a:r>
            <a:r>
              <a:rPr spc="-10" dirty="0"/>
              <a:t>(KIET)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2081174" y="3351784"/>
            <a:ext cx="44577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AyurPharma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xfrm>
            <a:off x="3409111" y="3351784"/>
            <a:ext cx="633729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IN" spc="-10" dirty="0"/>
              <a:t>MAY 4</a:t>
            </a:r>
            <a:r>
              <a:rPr dirty="0"/>
              <a:t>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4299153" y="3351784"/>
            <a:ext cx="2540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</a:t>
            </a:r>
            <a:r>
              <a:rPr lang="en-IN" spc="-35" dirty="0"/>
              <a:t>5</a:t>
            </a:r>
            <a:endParaRPr spc="-35" dirty="0"/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Introduction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02932" y="1075255"/>
            <a:ext cx="3916679" cy="19060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000" b="1" dirty="0" err="1">
                <a:latin typeface="Times New Roman" pitchFamily="18" charset="0"/>
                <a:cs typeface="Times New Roman" pitchFamily="18" charset="0"/>
              </a:rPr>
              <a:t>AyurPharma</a:t>
            </a:r>
            <a:r>
              <a:rPr lang="en-US" sz="1000" b="1" dirty="0">
                <a:latin typeface="Times New Roman" pitchFamily="18" charset="0"/>
                <a:cs typeface="Times New Roman" pitchFamily="18" charset="0"/>
              </a:rPr>
              <a:t>: AI-Driven Personalized Healthcare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000" dirty="0">
                <a:latin typeface="Times New Roman" pitchFamily="18" charset="0"/>
                <a:cs typeface="Times New Roman" pitchFamily="18" charset="0"/>
              </a:rPr>
              <a:t>Ayurveda → Ancient Indian system focused on </a:t>
            </a:r>
            <a:r>
              <a:rPr lang="en-US" sz="1000" b="1" dirty="0">
                <a:latin typeface="Times New Roman" pitchFamily="18" charset="0"/>
                <a:cs typeface="Times New Roman" pitchFamily="18" charset="0"/>
              </a:rPr>
              <a:t>personalized medicine</a:t>
            </a:r>
            <a:r>
              <a:rPr lang="en-US" sz="1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000" dirty="0">
                <a:latin typeface="Times New Roman" pitchFamily="18" charset="0"/>
                <a:cs typeface="Times New Roman" pitchFamily="18" charset="0"/>
              </a:rPr>
              <a:t>Based on </a:t>
            </a:r>
            <a:r>
              <a:rPr lang="en-US" sz="1000" b="1" dirty="0">
                <a:latin typeface="Times New Roman" pitchFamily="18" charset="0"/>
                <a:cs typeface="Times New Roman" pitchFamily="18" charset="0"/>
              </a:rPr>
              <a:t>Prakriti (body constitution): Vata, Pitta, Kapha</a:t>
            </a:r>
            <a:r>
              <a:rPr lang="en-US" sz="1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000" dirty="0">
                <a:latin typeface="Times New Roman" pitchFamily="18" charset="0"/>
                <a:cs typeface="Times New Roman" pitchFamily="18" charset="0"/>
              </a:rPr>
              <a:t>Modern healthcare → </a:t>
            </a:r>
            <a:r>
              <a:rPr lang="en-US" sz="1000" b="1" dirty="0">
                <a:latin typeface="Times New Roman" pitchFamily="18" charset="0"/>
                <a:cs typeface="Times New Roman" pitchFamily="18" charset="0"/>
              </a:rPr>
              <a:t>generalized treatment approach</a:t>
            </a:r>
            <a:r>
              <a:rPr lang="en-US" sz="1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000" dirty="0">
                <a:latin typeface="Times New Roman" pitchFamily="18" charset="0"/>
                <a:cs typeface="Times New Roman" pitchFamily="18" charset="0"/>
              </a:rPr>
              <a:t>Rise in lifestyle diseases → need for </a:t>
            </a:r>
            <a:r>
              <a:rPr lang="en-US" sz="1000" b="1" dirty="0">
                <a:latin typeface="Times New Roman" pitchFamily="18" charset="0"/>
                <a:cs typeface="Times New Roman" pitchFamily="18" charset="0"/>
              </a:rPr>
              <a:t>preventive care</a:t>
            </a:r>
            <a:r>
              <a:rPr lang="en-US" sz="100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r>
              <a:rPr lang="en-US" sz="1000" b="1" dirty="0">
                <a:latin typeface="Times New Roman" pitchFamily="18" charset="0"/>
                <a:cs typeface="Times New Roman" pitchFamily="18" charset="0"/>
              </a:rPr>
              <a:t>AI technologies enable: </a:t>
            </a:r>
          </a:p>
          <a:p>
            <a:pPr lvl="1"/>
            <a:r>
              <a:rPr lang="en-US" sz="1000" dirty="0">
                <a:latin typeface="Times New Roman" pitchFamily="18" charset="0"/>
                <a:cs typeface="Times New Roman" pitchFamily="18" charset="0"/>
              </a:rPr>
              <a:t>Pattern detection </a:t>
            </a:r>
          </a:p>
          <a:p>
            <a:pPr lvl="1"/>
            <a:r>
              <a:rPr lang="en-US" sz="1000" dirty="0">
                <a:latin typeface="Times New Roman" pitchFamily="18" charset="0"/>
                <a:cs typeface="Times New Roman" pitchFamily="18" charset="0"/>
              </a:rPr>
              <a:t>Predictive insights </a:t>
            </a:r>
          </a:p>
          <a:p>
            <a:pPr lvl="1"/>
            <a:r>
              <a:rPr lang="en-US" sz="1000" dirty="0">
                <a:latin typeface="Times New Roman" pitchFamily="18" charset="0"/>
                <a:cs typeface="Times New Roman" pitchFamily="18" charset="0"/>
              </a:rPr>
              <a:t>Personalized recommendations </a:t>
            </a:r>
          </a:p>
          <a:p>
            <a:r>
              <a:rPr lang="en-US" sz="1000" b="1" dirty="0">
                <a:latin typeface="Times New Roman" pitchFamily="18" charset="0"/>
                <a:cs typeface="Times New Roman" pitchFamily="18" charset="0"/>
              </a:rPr>
              <a:t>Idea:</a:t>
            </a:r>
            <a:br>
              <a:rPr lang="en-US" sz="1000" dirty="0">
                <a:latin typeface="Times New Roman" pitchFamily="18" charset="0"/>
                <a:cs typeface="Times New Roman" pitchFamily="18" charset="0"/>
              </a:rPr>
            </a:br>
            <a:r>
              <a:rPr lang="en-US" sz="1000" b="1" dirty="0">
                <a:latin typeface="Times New Roman" pitchFamily="18" charset="0"/>
                <a:cs typeface="Times New Roman" pitchFamily="18" charset="0"/>
              </a:rPr>
              <a:t>Integrating Ayurveda with AI for intelligent healthcare solutions</a:t>
            </a:r>
            <a:endParaRPr lang="en-US" sz="1000" dirty="0">
              <a:latin typeface="Times New Roman" pitchFamily="18" charset="0"/>
              <a:cs typeface="Times New Roman" pitchFamily="18" charset="0"/>
            </a:endParaRPr>
          </a:p>
          <a:p>
            <a:pPr marL="12700" marR="406400">
              <a:lnSpc>
                <a:spcPct val="125299"/>
              </a:lnSpc>
              <a:spcBef>
                <a:spcPts val="100"/>
              </a:spcBef>
            </a:pPr>
            <a:endParaRPr sz="1100" dirty="0">
              <a:latin typeface="Tahoma"/>
              <a:cs typeface="Tahoma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895" y="1594302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4574" y="1906383"/>
            <a:ext cx="65265" cy="6526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Abhishek,</a:t>
            </a:r>
            <a:r>
              <a:rPr spc="15" dirty="0"/>
              <a:t> </a:t>
            </a:r>
            <a:r>
              <a:rPr dirty="0"/>
              <a:t>Akshat,</a:t>
            </a:r>
            <a:r>
              <a:rPr spc="15" dirty="0"/>
              <a:t> </a:t>
            </a:r>
            <a:r>
              <a:rPr dirty="0"/>
              <a:t>Anoop,</a:t>
            </a:r>
            <a:r>
              <a:rPr spc="15" dirty="0"/>
              <a:t> </a:t>
            </a:r>
            <a:r>
              <a:rPr dirty="0"/>
              <a:t>Gaurav</a:t>
            </a:r>
            <a:r>
              <a:rPr spc="185" dirty="0"/>
              <a:t> </a:t>
            </a:r>
            <a:r>
              <a:rPr spc="-10" dirty="0"/>
              <a:t>(KIET)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81174" y="3351784"/>
            <a:ext cx="44577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AyurPharma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xfrm>
            <a:off x="3409111" y="3351784"/>
            <a:ext cx="633729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IN" spc="-10" dirty="0"/>
              <a:t>MAY 4</a:t>
            </a:r>
            <a:r>
              <a:rPr dirty="0"/>
              <a:t>,</a:t>
            </a:r>
            <a:r>
              <a:rPr spc="-5" dirty="0"/>
              <a:t> </a:t>
            </a:r>
            <a:r>
              <a:rPr spc="-20" dirty="0"/>
              <a:t>2026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4299153" y="3351784"/>
            <a:ext cx="2540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2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</a:t>
            </a:r>
            <a:r>
              <a:rPr lang="en-IN" spc="-35" dirty="0"/>
              <a:t>5</a:t>
            </a:r>
            <a:endParaRPr spc="-35" dirty="0"/>
          </a:p>
        </p:txBody>
      </p:sp>
      <p:pic>
        <p:nvPicPr>
          <p:cNvPr id="17" name="object 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6746" y="1140600"/>
            <a:ext cx="65265" cy="65265"/>
          </a:xfrm>
          <a:prstGeom prst="rect">
            <a:avLst/>
          </a:prstGeom>
        </p:spPr>
      </p:pic>
      <p:pic>
        <p:nvPicPr>
          <p:cNvPr id="18" name="object 4">
            <a:extLst>
              <a:ext uri="{FF2B5EF4-FFF2-40B4-BE49-F238E27FC236}">
                <a16:creationId xmlns:a16="http://schemas.microsoft.com/office/drawing/2014/main" id="{6BAF1F39-C3BA-8E7B-8D82-BA50CFCB25E3}"/>
              </a:ext>
            </a:extLst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489" y="2502526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C6050-19FF-C718-103C-DD623E2FF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501D62C9-5AFB-0819-672C-8EEEB48F3820}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E444793-92BD-C770-FFAA-274C38B8D5D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3859529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pc="-35" dirty="0"/>
              <a:t>Problem Statement and Objectives </a:t>
            </a:r>
            <a:endParaRPr spc="-35" dirty="0"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F4896B6C-A932-F9F8-14D9-40C6A842808C}"/>
              </a:ext>
            </a:extLst>
          </p:cNvPr>
          <p:cNvSpPr txBox="1"/>
          <p:nvPr/>
        </p:nvSpPr>
        <p:spPr>
          <a:xfrm>
            <a:off x="414526" y="766886"/>
            <a:ext cx="3916679" cy="25215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sz="1000" b="1" dirty="0"/>
              <a:t>Problem Statement</a:t>
            </a:r>
            <a:endParaRPr lang="en-US" sz="1000" dirty="0"/>
          </a:p>
          <a:p>
            <a:r>
              <a:rPr lang="en-US" sz="1000" dirty="0"/>
              <a:t>Ayurvedic knowledge is </a:t>
            </a:r>
            <a:r>
              <a:rPr lang="en-US" sz="1000" b="1" dirty="0"/>
              <a:t>unstructured &amp; difficult to digitize</a:t>
            </a:r>
            <a:r>
              <a:rPr lang="en-US" sz="1000" dirty="0"/>
              <a:t> </a:t>
            </a:r>
          </a:p>
          <a:p>
            <a:r>
              <a:rPr lang="en-US" sz="1000" dirty="0"/>
              <a:t>Lack of integration with </a:t>
            </a:r>
            <a:r>
              <a:rPr lang="en-US" sz="1000" b="1" dirty="0"/>
              <a:t>modern AI systems</a:t>
            </a:r>
            <a:r>
              <a:rPr lang="en-US" sz="1000" dirty="0"/>
              <a:t> </a:t>
            </a:r>
          </a:p>
          <a:p>
            <a:r>
              <a:rPr lang="en-US" sz="1000" dirty="0"/>
              <a:t>Existing solutions: </a:t>
            </a:r>
          </a:p>
          <a:p>
            <a:pPr lvl="1"/>
            <a:r>
              <a:rPr lang="en-US" sz="1000" dirty="0"/>
              <a:t>Limited datasets </a:t>
            </a:r>
          </a:p>
          <a:p>
            <a:pPr lvl="1"/>
            <a:r>
              <a:rPr lang="en-US" sz="1000" dirty="0"/>
              <a:t>Low scalability </a:t>
            </a:r>
          </a:p>
          <a:p>
            <a:pPr lvl="1"/>
            <a:r>
              <a:rPr lang="en-US" sz="1000" dirty="0"/>
              <a:t>Lack clinical validation </a:t>
            </a:r>
          </a:p>
          <a:p>
            <a:r>
              <a:rPr lang="en-US" sz="1000" b="1" dirty="0"/>
              <a:t>Objectives</a:t>
            </a:r>
            <a:endParaRPr lang="en-US" sz="1000" dirty="0"/>
          </a:p>
          <a:p>
            <a:r>
              <a:rPr lang="en-US" sz="1000" dirty="0"/>
              <a:t>Build </a:t>
            </a:r>
            <a:r>
              <a:rPr lang="en-US" sz="1000" b="1" dirty="0"/>
              <a:t>AI-based personalized healthcare system</a:t>
            </a:r>
            <a:r>
              <a:rPr lang="en-US" sz="1000" dirty="0"/>
              <a:t> </a:t>
            </a:r>
          </a:p>
          <a:p>
            <a:r>
              <a:rPr lang="en-US" sz="1000" dirty="0"/>
              <a:t>Use NLP to process Ayurvedic texts </a:t>
            </a:r>
          </a:p>
          <a:p>
            <a:r>
              <a:rPr lang="en-US" sz="1000" dirty="0"/>
              <a:t>Apply ML for: </a:t>
            </a:r>
          </a:p>
          <a:p>
            <a:pPr lvl="1"/>
            <a:r>
              <a:rPr lang="en-US" sz="1000" dirty="0"/>
              <a:t>Prakriti classification </a:t>
            </a:r>
          </a:p>
          <a:p>
            <a:pPr lvl="1"/>
            <a:r>
              <a:rPr lang="en-US" sz="1000" dirty="0"/>
              <a:t>Treatment recommendation </a:t>
            </a:r>
          </a:p>
          <a:p>
            <a:r>
              <a:rPr lang="en-US" sz="1000" dirty="0"/>
              <a:t>Implement </a:t>
            </a:r>
            <a:r>
              <a:rPr lang="en-US" sz="1000" b="1" dirty="0"/>
              <a:t>RAG + LLM for context-aware responses</a:t>
            </a:r>
            <a:r>
              <a:rPr lang="en-US" sz="1000" dirty="0"/>
              <a:t> </a:t>
            </a:r>
          </a:p>
          <a:p>
            <a:r>
              <a:rPr lang="en-US" sz="1000" dirty="0"/>
              <a:t>Ensure scalability &amp; interpretability</a:t>
            </a:r>
          </a:p>
          <a:p>
            <a:pPr marL="12700" marR="406400">
              <a:lnSpc>
                <a:spcPct val="125299"/>
              </a:lnSpc>
              <a:spcBef>
                <a:spcPts val="100"/>
              </a:spcBef>
            </a:pPr>
            <a:endParaRPr sz="1100" dirty="0">
              <a:latin typeface="Tahoma"/>
              <a:cs typeface="Tahoma"/>
            </a:endParaRPr>
          </a:p>
        </p:txBody>
      </p:sp>
      <p:pic>
        <p:nvPicPr>
          <p:cNvPr id="8" name="object 8">
            <a:extLst>
              <a:ext uri="{FF2B5EF4-FFF2-40B4-BE49-F238E27FC236}">
                <a16:creationId xmlns:a16="http://schemas.microsoft.com/office/drawing/2014/main" id="{E2B92259-E67F-6301-60D9-139285EE405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574" y="1906383"/>
            <a:ext cx="65265" cy="65265"/>
          </a:xfrm>
          <a:prstGeom prst="rect">
            <a:avLst/>
          </a:prstGeom>
        </p:spPr>
      </p:pic>
      <p:grpSp>
        <p:nvGrpSpPr>
          <p:cNvPr id="9" name="object 9">
            <a:extLst>
              <a:ext uri="{FF2B5EF4-FFF2-40B4-BE49-F238E27FC236}">
                <a16:creationId xmlns:a16="http://schemas.microsoft.com/office/drawing/2014/main" id="{8F6AE924-1050-CCFA-5EA8-CA8B4E457A49}"/>
              </a:ext>
            </a:extLst>
          </p:cNvPr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6F8DE252-D5C6-9908-5C7E-F82E913BBABB}"/>
                </a:ext>
              </a:extLst>
            </p:cNvPr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6EC30604-FEFA-2796-074C-6471847FF466}"/>
                </a:ext>
              </a:extLst>
            </p:cNvPr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>
              <a:extLst>
                <a:ext uri="{FF2B5EF4-FFF2-40B4-BE49-F238E27FC236}">
                  <a16:creationId xmlns:a16="http://schemas.microsoft.com/office/drawing/2014/main" id="{091768A0-50E3-57C6-C530-CF4DE638402B}"/>
                </a:ext>
              </a:extLst>
            </p:cNvPr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>
            <a:extLst>
              <a:ext uri="{FF2B5EF4-FFF2-40B4-BE49-F238E27FC236}">
                <a16:creationId xmlns:a16="http://schemas.microsoft.com/office/drawing/2014/main" id="{76F6FE90-94C0-34D3-BCFA-F8E9DF141D67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Abhishek,</a:t>
            </a:r>
            <a:r>
              <a:rPr spc="15" dirty="0"/>
              <a:t> </a:t>
            </a:r>
            <a:r>
              <a:rPr dirty="0"/>
              <a:t>Akshat,</a:t>
            </a:r>
            <a:r>
              <a:rPr spc="15" dirty="0"/>
              <a:t> </a:t>
            </a:r>
            <a:r>
              <a:rPr dirty="0"/>
              <a:t>Anoop,</a:t>
            </a:r>
            <a:r>
              <a:rPr spc="15" dirty="0"/>
              <a:t> </a:t>
            </a:r>
            <a:r>
              <a:rPr dirty="0"/>
              <a:t>Gaurav</a:t>
            </a:r>
            <a:r>
              <a:rPr spc="185" dirty="0"/>
              <a:t> </a:t>
            </a:r>
            <a:r>
              <a:rPr spc="-10" dirty="0"/>
              <a:t>(KIET)</a:t>
            </a: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8ED1FD73-F953-5C16-6FA1-98CED0BE0096}"/>
              </a:ext>
            </a:extLst>
          </p:cNvPr>
          <p:cNvSpPr txBox="1"/>
          <p:nvPr/>
        </p:nvSpPr>
        <p:spPr>
          <a:xfrm>
            <a:off x="2081174" y="3351784"/>
            <a:ext cx="44577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3" action="ppaction://hlinksldjump"/>
              </a:rPr>
              <a:t>AyurPharma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6199D04D-F4A1-F006-1DFE-D5CF03E9079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3409111" y="3351784"/>
            <a:ext cx="63372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IN" spc="-10" dirty="0"/>
              <a:t>MAY 4</a:t>
            </a:r>
            <a:r>
              <a:rPr lang="en-IN" dirty="0"/>
              <a:t>,</a:t>
            </a:r>
            <a:r>
              <a:rPr lang="en-IN" spc="-5" dirty="0"/>
              <a:t> </a:t>
            </a:r>
            <a:r>
              <a:rPr lang="en-IN" spc="-20" dirty="0"/>
              <a:t>2026</a:t>
            </a:r>
          </a:p>
          <a:p>
            <a:pPr marL="12700">
              <a:lnSpc>
                <a:spcPts val="675"/>
              </a:lnSpc>
            </a:pPr>
            <a:endParaRPr spc="-20" dirty="0"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A015C162-DC03-CEE2-532E-05464F597E0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4299153" y="3351784"/>
            <a:ext cx="2540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3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</a:t>
            </a:r>
            <a:r>
              <a:rPr lang="en-IN" spc="-35" dirty="0"/>
              <a:t>5</a:t>
            </a:r>
            <a:endParaRPr spc="-35" dirty="0"/>
          </a:p>
        </p:txBody>
      </p:sp>
      <p:pic>
        <p:nvPicPr>
          <p:cNvPr id="18" name="object 4">
            <a:extLst>
              <a:ext uri="{FF2B5EF4-FFF2-40B4-BE49-F238E27FC236}">
                <a16:creationId xmlns:a16="http://schemas.microsoft.com/office/drawing/2014/main" id="{4DDF871D-AD2A-BDFD-887E-4B0ACF48BC0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4574" y="848020"/>
            <a:ext cx="69800" cy="65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528779"/>
      </p:ext>
    </p:extLst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59878"/>
            <a:ext cx="13265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Literature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Review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Abhishek,</a:t>
            </a:r>
            <a:r>
              <a:rPr spc="15" dirty="0"/>
              <a:t> </a:t>
            </a:r>
            <a:r>
              <a:rPr dirty="0"/>
              <a:t>Akshat,</a:t>
            </a:r>
            <a:r>
              <a:rPr spc="15" dirty="0"/>
              <a:t> </a:t>
            </a:r>
            <a:r>
              <a:rPr dirty="0"/>
              <a:t>Anoop,</a:t>
            </a:r>
            <a:r>
              <a:rPr spc="15" dirty="0"/>
              <a:t> </a:t>
            </a:r>
            <a:r>
              <a:rPr dirty="0"/>
              <a:t>Gaurav</a:t>
            </a:r>
            <a:r>
              <a:rPr spc="185" dirty="0"/>
              <a:t> </a:t>
            </a:r>
            <a:r>
              <a:rPr spc="-10" dirty="0"/>
              <a:t>(KIET)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2081174" y="3351784"/>
            <a:ext cx="44577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AyurPharma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xfrm>
            <a:off x="3409111" y="3351784"/>
            <a:ext cx="63372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IN" spc="-10" dirty="0"/>
              <a:t>MAY 4</a:t>
            </a:r>
            <a:r>
              <a:rPr lang="en-IN" dirty="0"/>
              <a:t>,</a:t>
            </a:r>
            <a:r>
              <a:rPr lang="en-IN" spc="-5" dirty="0"/>
              <a:t> </a:t>
            </a:r>
            <a:r>
              <a:rPr lang="en-IN" spc="-20" dirty="0"/>
              <a:t>2026</a:t>
            </a:r>
          </a:p>
          <a:p>
            <a:pPr marL="12700">
              <a:lnSpc>
                <a:spcPts val="675"/>
              </a:lnSpc>
            </a:pPr>
            <a:endParaRPr spc="-20" dirty="0"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xfrm>
            <a:off x="4299153" y="3351784"/>
            <a:ext cx="2540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4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</a:t>
            </a:r>
            <a:r>
              <a:rPr lang="en-IN" spc="-35" dirty="0"/>
              <a:t>5</a:t>
            </a:r>
            <a:endParaRPr spc="-35" dirty="0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896F7B6A-BDAF-3C59-8EC3-A89BF72959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350967" y="969963"/>
            <a:ext cx="33568669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83899739-7EA5-310A-C02D-7BE9CC272D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925153"/>
              </p:ext>
            </p:extLst>
          </p:nvPr>
        </p:nvGraphicFramePr>
        <p:xfrm>
          <a:off x="193615" y="511175"/>
          <a:ext cx="4222869" cy="267726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7599">
                  <a:extLst>
                    <a:ext uri="{9D8B030D-6E8A-4147-A177-3AD203B41FA5}">
                      <a16:colId xmlns:a16="http://schemas.microsoft.com/office/drawing/2014/main" val="3689697740"/>
                    </a:ext>
                  </a:extLst>
                </a:gridCol>
                <a:gridCol w="697190">
                  <a:extLst>
                    <a:ext uri="{9D8B030D-6E8A-4147-A177-3AD203B41FA5}">
                      <a16:colId xmlns:a16="http://schemas.microsoft.com/office/drawing/2014/main" val="2239754968"/>
                    </a:ext>
                  </a:extLst>
                </a:gridCol>
                <a:gridCol w="689616">
                  <a:extLst>
                    <a:ext uri="{9D8B030D-6E8A-4147-A177-3AD203B41FA5}">
                      <a16:colId xmlns:a16="http://schemas.microsoft.com/office/drawing/2014/main" val="3474051851"/>
                    </a:ext>
                  </a:extLst>
                </a:gridCol>
                <a:gridCol w="689616">
                  <a:extLst>
                    <a:ext uri="{9D8B030D-6E8A-4147-A177-3AD203B41FA5}">
                      <a16:colId xmlns:a16="http://schemas.microsoft.com/office/drawing/2014/main" val="3430619396"/>
                    </a:ext>
                  </a:extLst>
                </a:gridCol>
                <a:gridCol w="689616">
                  <a:extLst>
                    <a:ext uri="{9D8B030D-6E8A-4147-A177-3AD203B41FA5}">
                      <a16:colId xmlns:a16="http://schemas.microsoft.com/office/drawing/2014/main" val="3930639759"/>
                    </a:ext>
                  </a:extLst>
                </a:gridCol>
                <a:gridCol w="689616">
                  <a:extLst>
                    <a:ext uri="{9D8B030D-6E8A-4147-A177-3AD203B41FA5}">
                      <a16:colId xmlns:a16="http://schemas.microsoft.com/office/drawing/2014/main" val="1280872859"/>
                    </a:ext>
                  </a:extLst>
                </a:gridCol>
                <a:gridCol w="689616">
                  <a:extLst>
                    <a:ext uri="{9D8B030D-6E8A-4147-A177-3AD203B41FA5}">
                      <a16:colId xmlns:a16="http://schemas.microsoft.com/office/drawing/2014/main" val="2705178879"/>
                    </a:ext>
                  </a:extLst>
                </a:gridCol>
              </a:tblGrid>
              <a:tr h="12309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">
                          <a:effectLst/>
                        </a:rPr>
                        <a:t>S.No</a:t>
                      </a:r>
                      <a:endParaRPr lang="en-IN" sz="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 dirty="0">
                          <a:effectLst/>
                        </a:rPr>
                        <a:t>Author &amp; Year</a:t>
                      </a:r>
                      <a:endParaRPr lang="en-IN" sz="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Algorithm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Metrics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Dataset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Findings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Gaps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extLst>
                  <a:ext uri="{0D108BD9-81ED-4DB2-BD59-A6C34878D82A}">
                    <a16:rowId xmlns:a16="http://schemas.microsoft.com/office/drawing/2014/main" val="4249987506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" dirty="0">
                          <a:effectLst/>
                        </a:rPr>
                        <a:t>1</a:t>
                      </a:r>
                      <a:endParaRPr lang="en-IN" sz="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 dirty="0">
                          <a:effectLst/>
                        </a:rPr>
                        <a:t>Balachandran &amp; Govindarajan (2007)</a:t>
                      </a:r>
                      <a:endParaRPr lang="en-IN" sz="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Ayurvedic drug discovery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Conceptual review (no specific metrics)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Traditional Ayurvedic texts &amp; phytochemical data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Highlighted potential of Ayurveda in modern drug discovery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Lack of computational models and clinical validation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extLst>
                  <a:ext uri="{0D108BD9-81ED-4DB2-BD59-A6C34878D82A}">
                    <a16:rowId xmlns:a16="http://schemas.microsoft.com/office/drawing/2014/main" val="1479552982"/>
                  </a:ext>
                </a:extLst>
              </a:tr>
              <a:tr h="573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">
                          <a:effectLst/>
                        </a:rPr>
                        <a:t>2</a:t>
                      </a:r>
                      <a:endParaRPr lang="en-IN" sz="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Patwardhan et al. (2017)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 dirty="0">
                          <a:effectLst/>
                        </a:rPr>
                        <a:t>Policy recommendations for Ayurveda formulations safety</a:t>
                      </a:r>
                      <a:endParaRPr lang="en-IN" sz="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Case reports, toxicity observations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Clinical reports, national pharmacovigilance data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Proposed guidelines for safer Ayurveda drug use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No algorithmic/ML-based solutions, need for tech integration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extLst>
                  <a:ext uri="{0D108BD9-81ED-4DB2-BD59-A6C34878D82A}">
                    <a16:rowId xmlns:a16="http://schemas.microsoft.com/office/drawing/2014/main" val="3966303763"/>
                  </a:ext>
                </a:extLst>
              </a:tr>
              <a:tr h="5087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">
                          <a:effectLst/>
                        </a:rPr>
                        <a:t>3</a:t>
                      </a:r>
                      <a:endParaRPr lang="en-IN" sz="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Sudheer Kumar et al. (2024)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 dirty="0">
                          <a:effectLst/>
                        </a:rPr>
                        <a:t>Decision Tree, Random Forest, KNN</a:t>
                      </a:r>
                      <a:endParaRPr lang="en-IN" sz="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Confusion Matrix, Cross Validation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Kaggle dataset + Ayurvedic constitution data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Developed Ayurvedic disease prediction &amp; drug recommendation system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Limited dataset, lacks real-world clinical trial validation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extLst>
                  <a:ext uri="{0D108BD9-81ED-4DB2-BD59-A6C34878D82A}">
                    <a16:rowId xmlns:a16="http://schemas.microsoft.com/office/drawing/2014/main" val="2165367879"/>
                  </a:ext>
                </a:extLst>
              </a:tr>
              <a:tr h="5730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">
                          <a:effectLst/>
                        </a:rPr>
                        <a:t>4</a:t>
                      </a:r>
                      <a:endParaRPr lang="en-IN" sz="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Singh et al. (2018)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 dirty="0">
                          <a:effectLst/>
                        </a:rPr>
                        <a:t>Big Data Analytics</a:t>
                      </a:r>
                      <a:endParaRPr lang="en-IN" sz="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 dirty="0">
                          <a:effectLst/>
                        </a:rPr>
                        <a:t>Network analysis, statistical evaluation</a:t>
                      </a:r>
                      <a:endParaRPr lang="en-IN" sz="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 dirty="0">
                          <a:effectLst/>
                        </a:rPr>
                        <a:t>353,000 Ayurveda patient records</a:t>
                      </a:r>
                      <a:endParaRPr lang="en-IN" sz="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 dirty="0">
                          <a:effectLst/>
                        </a:rPr>
                        <a:t>Showed chronic disease patterns &amp; Ayurveda effectiveness (76% relief)</a:t>
                      </a:r>
                      <a:endParaRPr lang="en-IN" sz="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Dataset limited to single Ayurveda network, needs multi-institution validation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extLst>
                  <a:ext uri="{0D108BD9-81ED-4DB2-BD59-A6C34878D82A}">
                    <a16:rowId xmlns:a16="http://schemas.microsoft.com/office/drawing/2014/main" val="419747488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">
                          <a:effectLst/>
                        </a:rPr>
                        <a:t>5</a:t>
                      </a:r>
                      <a:endParaRPr lang="en-IN" sz="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Verma et al. (2024)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Conceptual Integration Framework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Qualitative synthesis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Classical Ayurvedic texts + modern medical literature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Explored integration of Ayurveda with modern medicine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 dirty="0">
                          <a:effectLst/>
                        </a:rPr>
                        <a:t>Standardization and lack of scientific validation remain</a:t>
                      </a:r>
                      <a:endParaRPr lang="en-IN" sz="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244" marR="13244" marT="0" marB="0"/>
                </a:tc>
                <a:extLst>
                  <a:ext uri="{0D108BD9-81ED-4DB2-BD59-A6C34878D82A}">
                    <a16:rowId xmlns:a16="http://schemas.microsoft.com/office/drawing/2014/main" val="6149353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22E33-71AD-B2CC-ACB5-0FF1B4C91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2C1E080-B216-901D-407F-7F9943389177}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48C90D7-4762-4558-1BC5-B58F639A8ACC}"/>
              </a:ext>
            </a:extLst>
          </p:cNvPr>
          <p:cNvSpPr txBox="1"/>
          <p:nvPr/>
        </p:nvSpPr>
        <p:spPr>
          <a:xfrm>
            <a:off x="95300" y="59878"/>
            <a:ext cx="132651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25" dirty="0">
                <a:solidFill>
                  <a:srgbClr val="FFFFFF"/>
                </a:solidFill>
                <a:latin typeface="Tahoma"/>
                <a:cs typeface="Tahoma"/>
              </a:rPr>
              <a:t>Literature</a:t>
            </a:r>
            <a:r>
              <a:rPr sz="1400" spc="-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spc="-45" dirty="0">
                <a:solidFill>
                  <a:srgbClr val="FFFFFF"/>
                </a:solidFill>
                <a:latin typeface="Tahoma"/>
                <a:cs typeface="Tahoma"/>
              </a:rPr>
              <a:t>Review</a:t>
            </a:r>
            <a:endParaRPr sz="1400">
              <a:latin typeface="Tahoma"/>
              <a:cs typeface="Tahoma"/>
            </a:endParaRPr>
          </a:p>
        </p:txBody>
      </p:sp>
      <p:grpSp>
        <p:nvGrpSpPr>
          <p:cNvPr id="5" name="object 5">
            <a:extLst>
              <a:ext uri="{FF2B5EF4-FFF2-40B4-BE49-F238E27FC236}">
                <a16:creationId xmlns:a16="http://schemas.microsoft.com/office/drawing/2014/main" id="{6ED5B03E-2971-9F98-F819-E7372E099709}"/>
              </a:ext>
            </a:extLst>
          </p:cNvPr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20889D08-2763-1072-3757-789560546E8D}"/>
                </a:ext>
              </a:extLst>
            </p:cNvPr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>
              <a:extLst>
                <a:ext uri="{FF2B5EF4-FFF2-40B4-BE49-F238E27FC236}">
                  <a16:creationId xmlns:a16="http://schemas.microsoft.com/office/drawing/2014/main" id="{4FA4E004-6EC2-B1ED-0827-BCD943BB8B52}"/>
                </a:ext>
              </a:extLst>
            </p:cNvPr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>
              <a:extLst>
                <a:ext uri="{FF2B5EF4-FFF2-40B4-BE49-F238E27FC236}">
                  <a16:creationId xmlns:a16="http://schemas.microsoft.com/office/drawing/2014/main" id="{EDF6E574-5536-7194-D388-43A59D350046}"/>
                </a:ext>
              </a:extLst>
            </p:cNvPr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>
            <a:extLst>
              <a:ext uri="{FF2B5EF4-FFF2-40B4-BE49-F238E27FC236}">
                <a16:creationId xmlns:a16="http://schemas.microsoft.com/office/drawing/2014/main" id="{DD738087-0EE3-7576-4FBD-4E9E8DAAD244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Abhishek,</a:t>
            </a:r>
            <a:r>
              <a:rPr spc="15" dirty="0"/>
              <a:t> </a:t>
            </a:r>
            <a:r>
              <a:rPr dirty="0"/>
              <a:t>Akshat,</a:t>
            </a:r>
            <a:r>
              <a:rPr spc="15" dirty="0"/>
              <a:t> </a:t>
            </a:r>
            <a:r>
              <a:rPr dirty="0"/>
              <a:t>Anoop,</a:t>
            </a:r>
            <a:r>
              <a:rPr spc="15" dirty="0"/>
              <a:t> </a:t>
            </a:r>
            <a:r>
              <a:rPr dirty="0"/>
              <a:t>Gaurav</a:t>
            </a:r>
            <a:r>
              <a:rPr spc="185" dirty="0"/>
              <a:t> </a:t>
            </a:r>
            <a:r>
              <a:rPr spc="-10" dirty="0"/>
              <a:t>(KIET)</a:t>
            </a: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B9B6D62-0327-20BB-2931-37F2B1667A0D}"/>
              </a:ext>
            </a:extLst>
          </p:cNvPr>
          <p:cNvSpPr txBox="1"/>
          <p:nvPr/>
        </p:nvSpPr>
        <p:spPr>
          <a:xfrm>
            <a:off x="2081174" y="3351784"/>
            <a:ext cx="44577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AyurPharma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B87B89E-C7FA-4687-9139-C73406029E6B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3409111" y="3351784"/>
            <a:ext cx="63372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IN" spc="-10" dirty="0"/>
              <a:t>MAY 4</a:t>
            </a:r>
            <a:r>
              <a:rPr lang="en-IN" dirty="0"/>
              <a:t>,</a:t>
            </a:r>
            <a:r>
              <a:rPr lang="en-IN" spc="-5" dirty="0"/>
              <a:t> </a:t>
            </a:r>
            <a:r>
              <a:rPr lang="en-IN" spc="-20" dirty="0"/>
              <a:t>2026</a:t>
            </a:r>
          </a:p>
          <a:p>
            <a:pPr marL="12700">
              <a:lnSpc>
                <a:spcPts val="675"/>
              </a:lnSpc>
            </a:pPr>
            <a:endParaRPr spc="-20"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E2D92609-6ABA-A96D-E9AF-EE8F8ABFFA0B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4299153" y="3351784"/>
            <a:ext cx="2540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IN" spc="-30" dirty="0"/>
              <a:t>5</a:t>
            </a:r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</a:t>
            </a:r>
            <a:r>
              <a:rPr lang="en-IN" spc="-35" dirty="0"/>
              <a:t>5</a:t>
            </a:r>
            <a:endParaRPr spc="-35" dirty="0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2BB32CDA-5586-5AA8-A091-35101BFE0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5350967" y="969963"/>
            <a:ext cx="33568669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0B3BA5B-6F59-7833-DAAF-BA8B965CC7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698048"/>
              </p:ext>
            </p:extLst>
          </p:nvPr>
        </p:nvGraphicFramePr>
        <p:xfrm>
          <a:off x="247650" y="410398"/>
          <a:ext cx="3962398" cy="27281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66766">
                  <a:extLst>
                    <a:ext uri="{9D8B030D-6E8A-4147-A177-3AD203B41FA5}">
                      <a16:colId xmlns:a16="http://schemas.microsoft.com/office/drawing/2014/main" val="1834130454"/>
                    </a:ext>
                  </a:extLst>
                </a:gridCol>
                <a:gridCol w="649272">
                  <a:extLst>
                    <a:ext uri="{9D8B030D-6E8A-4147-A177-3AD203B41FA5}">
                      <a16:colId xmlns:a16="http://schemas.microsoft.com/office/drawing/2014/main" val="1887377270"/>
                    </a:ext>
                  </a:extLst>
                </a:gridCol>
                <a:gridCol w="649272">
                  <a:extLst>
                    <a:ext uri="{9D8B030D-6E8A-4147-A177-3AD203B41FA5}">
                      <a16:colId xmlns:a16="http://schemas.microsoft.com/office/drawing/2014/main" val="3287141316"/>
                    </a:ext>
                  </a:extLst>
                </a:gridCol>
                <a:gridCol w="649272">
                  <a:extLst>
                    <a:ext uri="{9D8B030D-6E8A-4147-A177-3AD203B41FA5}">
                      <a16:colId xmlns:a16="http://schemas.microsoft.com/office/drawing/2014/main" val="283442692"/>
                    </a:ext>
                  </a:extLst>
                </a:gridCol>
                <a:gridCol w="649272">
                  <a:extLst>
                    <a:ext uri="{9D8B030D-6E8A-4147-A177-3AD203B41FA5}">
                      <a16:colId xmlns:a16="http://schemas.microsoft.com/office/drawing/2014/main" val="614522195"/>
                    </a:ext>
                  </a:extLst>
                </a:gridCol>
                <a:gridCol w="649272">
                  <a:extLst>
                    <a:ext uri="{9D8B030D-6E8A-4147-A177-3AD203B41FA5}">
                      <a16:colId xmlns:a16="http://schemas.microsoft.com/office/drawing/2014/main" val="1161335376"/>
                    </a:ext>
                  </a:extLst>
                </a:gridCol>
                <a:gridCol w="649272">
                  <a:extLst>
                    <a:ext uri="{9D8B030D-6E8A-4147-A177-3AD203B41FA5}">
                      <a16:colId xmlns:a16="http://schemas.microsoft.com/office/drawing/2014/main" val="4196740765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">
                          <a:effectLst/>
                        </a:rPr>
                        <a:t>6</a:t>
                      </a:r>
                      <a:endParaRPr lang="en-IN" sz="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 dirty="0">
                          <a:effectLst/>
                        </a:rPr>
                        <a:t>Gupta (2024)</a:t>
                      </a:r>
                      <a:endParaRPr lang="en-IN" sz="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 dirty="0">
                          <a:effectLst/>
                        </a:rPr>
                        <a:t>Integrative Healthcare Model</a:t>
                      </a:r>
                      <a:endParaRPr lang="en-IN" sz="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Comparative analysis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Review of Ayurveda + Modern medicine practices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Outlined strategies for integrating Ayurveda &amp; modern medicine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Barriers: regulation, training, standardization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extLst>
                  <a:ext uri="{0D108BD9-81ED-4DB2-BD59-A6C34878D82A}">
                    <a16:rowId xmlns:a16="http://schemas.microsoft.com/office/drawing/2014/main" val="2265737114"/>
                  </a:ext>
                </a:extLst>
              </a:tr>
              <a:tr h="66818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">
                          <a:effectLst/>
                        </a:rPr>
                        <a:t>7</a:t>
                      </a:r>
                      <a:endParaRPr lang="en-IN" sz="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Maniruzzaman et al. (2025)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 dirty="0">
                          <a:effectLst/>
                        </a:rPr>
                        <a:t>Integrative Sports Medicine</a:t>
                      </a:r>
                      <a:endParaRPr lang="en-IN" sz="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Review of clinical &amp; experimental findings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Sports medicine + Ayurvedic therapy literature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 dirty="0">
                          <a:effectLst/>
                        </a:rPr>
                        <a:t>Highlighted benefits of Ayurveda (Ashwagandha, Turmeric, Panchakarma) for athletes</a:t>
                      </a:r>
                      <a:endParaRPr lang="en-IN" sz="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Lack of large-scale clinical trials, standardization challenges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extLst>
                  <a:ext uri="{0D108BD9-81ED-4DB2-BD59-A6C34878D82A}">
                    <a16:rowId xmlns:a16="http://schemas.microsoft.com/office/drawing/2014/main" val="2268599400"/>
                  </a:ext>
                </a:extLst>
              </a:tr>
              <a:tr h="60079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">
                          <a:effectLst/>
                        </a:rPr>
                        <a:t>8</a:t>
                      </a:r>
                      <a:endParaRPr lang="en-IN" sz="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Patil et al. (2022)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 dirty="0">
                          <a:effectLst/>
                        </a:rPr>
                        <a:t>AI, ML, DL (Neural Networks, Fuzzy Systems, Evolutionary Computation)</a:t>
                      </a:r>
                      <a:endParaRPr lang="en-IN" sz="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 dirty="0">
                          <a:effectLst/>
                        </a:rPr>
                        <a:t>Accuracy, efficiency metrics</a:t>
                      </a:r>
                      <a:endParaRPr lang="en-IN" sz="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Medical datasets (not specific to Ayurveda)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AI successfully applied in healthcare for disease prediction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Not directly applied to Ayurveda, gap in Ayurveda-specific AI models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extLst>
                  <a:ext uri="{0D108BD9-81ED-4DB2-BD59-A6C34878D82A}">
                    <a16:rowId xmlns:a16="http://schemas.microsoft.com/office/drawing/2014/main" val="2103001186"/>
                  </a:ext>
                </a:extLst>
              </a:tr>
              <a:tr h="39861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">
                          <a:effectLst/>
                        </a:rPr>
                        <a:t>9</a:t>
                      </a:r>
                      <a:endParaRPr lang="en-IN" sz="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International Journal of Ayurveda Research (2023)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AI in Ayurveda (NLP, ML, Big Data, Blockchain)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Review-based evaluation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 dirty="0">
                          <a:effectLst/>
                        </a:rPr>
                        <a:t>Conceptual + WHO reports + case studies</a:t>
                      </a:r>
                      <a:endParaRPr lang="en-IN" sz="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 dirty="0">
                          <a:effectLst/>
                        </a:rPr>
                        <a:t>Highlighted opportunities for AI-driven Ayurveda</a:t>
                      </a:r>
                      <a:endParaRPr lang="en-IN" sz="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Need for real implementations &amp; datasets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extLst>
                  <a:ext uri="{0D108BD9-81ED-4DB2-BD59-A6C34878D82A}">
                    <a16:rowId xmlns:a16="http://schemas.microsoft.com/office/drawing/2014/main" val="826590392"/>
                  </a:ext>
                </a:extLst>
              </a:tr>
              <a:tr h="46601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200">
                          <a:effectLst/>
                        </a:rPr>
                        <a:t>10</a:t>
                      </a:r>
                      <a:endParaRPr lang="en-IN" sz="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Xu (2024)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Traditional Chinese Medicine (Comparative framework)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Qualitative synthesis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>
                          <a:effectLst/>
                        </a:rPr>
                        <a:t>Ancient TCM texts + modern healthcare practices</a:t>
                      </a:r>
                      <a:endParaRPr lang="en-IN" sz="6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 dirty="0">
                          <a:effectLst/>
                        </a:rPr>
                        <a:t>Provided parallels between TCM &amp; Ayurveda integration</a:t>
                      </a:r>
                      <a:endParaRPr lang="en-IN" sz="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600" dirty="0">
                          <a:effectLst/>
                        </a:rPr>
                        <a:t>Limited to TCM, but useful for Ayurveda comparative insights</a:t>
                      </a:r>
                      <a:endParaRPr lang="en-IN" sz="6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884" marR="13884" marT="0" marB="0"/>
                </a:tc>
                <a:extLst>
                  <a:ext uri="{0D108BD9-81ED-4DB2-BD59-A6C34878D82A}">
                    <a16:rowId xmlns:a16="http://schemas.microsoft.com/office/drawing/2014/main" val="4153374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3773065"/>
      </p:ext>
    </p:extLst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Proposed</a:t>
            </a:r>
            <a:r>
              <a:rPr spc="-65" dirty="0"/>
              <a:t> </a:t>
            </a:r>
            <a:r>
              <a:rPr spc="-10" dirty="0"/>
              <a:t>Algorithm</a:t>
            </a:r>
            <a:r>
              <a:rPr spc="-60" dirty="0"/>
              <a:t> </a:t>
            </a:r>
            <a:r>
              <a:rPr spc="-30" dirty="0"/>
              <a:t>and</a:t>
            </a:r>
            <a:r>
              <a:rPr spc="-60" dirty="0"/>
              <a:t> </a:t>
            </a:r>
            <a:r>
              <a:rPr spc="-25" dirty="0"/>
              <a:t>Methodology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8456" y="704931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383108" y="625354"/>
            <a:ext cx="4043045" cy="2627322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r>
              <a:rPr lang="en-US" sz="1000" b="1" dirty="0"/>
              <a:t>Data Sources</a:t>
            </a:r>
            <a:r>
              <a:rPr lang="en-US" sz="1000" dirty="0"/>
              <a:t> </a:t>
            </a:r>
          </a:p>
          <a:p>
            <a:pPr lvl="1"/>
            <a:r>
              <a:rPr lang="en-US" sz="1000" dirty="0"/>
              <a:t>Ayurvedic texts (Charaka, Sushruta) </a:t>
            </a:r>
          </a:p>
          <a:p>
            <a:pPr lvl="1"/>
            <a:r>
              <a:rPr lang="en-US" sz="1000" dirty="0"/>
              <a:t>Clinical datasets </a:t>
            </a:r>
          </a:p>
          <a:p>
            <a:pPr lvl="1"/>
            <a:r>
              <a:rPr lang="en-US" sz="1000" dirty="0"/>
              <a:t>User symptom inputs </a:t>
            </a:r>
          </a:p>
          <a:p>
            <a:r>
              <a:rPr lang="en-US" sz="1000" b="1" dirty="0"/>
              <a:t>NLP Pipeline</a:t>
            </a:r>
            <a:r>
              <a:rPr lang="en-US" sz="1000" dirty="0"/>
              <a:t> </a:t>
            </a:r>
          </a:p>
          <a:p>
            <a:pPr lvl="1"/>
            <a:r>
              <a:rPr lang="en-US" sz="1000" dirty="0"/>
              <a:t>Text preprocessing (NLTK, </a:t>
            </a:r>
            <a:r>
              <a:rPr lang="en-US" sz="1000" dirty="0" err="1"/>
              <a:t>spaCy</a:t>
            </a:r>
            <a:r>
              <a:rPr lang="en-US" sz="1000" dirty="0"/>
              <a:t>) </a:t>
            </a:r>
          </a:p>
          <a:p>
            <a:pPr lvl="1"/>
            <a:r>
              <a:rPr lang="en-US" sz="1000" dirty="0"/>
              <a:t>Entity extraction (disease, herbs) </a:t>
            </a:r>
          </a:p>
          <a:p>
            <a:pPr lvl="1"/>
            <a:r>
              <a:rPr lang="en-US" sz="1000" dirty="0"/>
              <a:t>Embeddings (Sentence Transformers) </a:t>
            </a:r>
          </a:p>
          <a:p>
            <a:r>
              <a:rPr lang="en-US" sz="1000" b="1" dirty="0"/>
              <a:t>RAG Framework</a:t>
            </a:r>
            <a:r>
              <a:rPr lang="en-US" sz="1000" dirty="0"/>
              <a:t> </a:t>
            </a:r>
          </a:p>
          <a:p>
            <a:pPr lvl="1"/>
            <a:r>
              <a:rPr lang="en-US" sz="1000" dirty="0"/>
              <a:t>FAISS → semantic retrieval </a:t>
            </a:r>
          </a:p>
          <a:p>
            <a:pPr lvl="1"/>
            <a:r>
              <a:rPr lang="en-US" sz="1000" dirty="0"/>
              <a:t>LLM → response generation </a:t>
            </a:r>
          </a:p>
          <a:p>
            <a:r>
              <a:rPr lang="en-US" sz="1000" b="1" dirty="0"/>
              <a:t>ML Models</a:t>
            </a:r>
            <a:r>
              <a:rPr lang="en-US" sz="1000" dirty="0"/>
              <a:t> </a:t>
            </a:r>
          </a:p>
          <a:p>
            <a:pPr lvl="1"/>
            <a:r>
              <a:rPr lang="en-US" sz="1000" dirty="0"/>
              <a:t>K-Means → Prakriti classification </a:t>
            </a:r>
          </a:p>
          <a:p>
            <a:pPr lvl="1"/>
            <a:r>
              <a:rPr lang="en-US" sz="1000" dirty="0"/>
              <a:t>Decision Tree → treatment recommendation </a:t>
            </a:r>
          </a:p>
          <a:p>
            <a:r>
              <a:rPr lang="en-US" sz="1000" b="1" dirty="0"/>
              <a:t>Workflow:</a:t>
            </a:r>
            <a:br>
              <a:rPr lang="en-US" sz="1000" dirty="0"/>
            </a:br>
            <a:r>
              <a:rPr lang="en-US" sz="1000" dirty="0"/>
              <a:t>Input → NLP → Clustering → Classification → LLM Output</a:t>
            </a:r>
          </a:p>
          <a:p>
            <a:pPr marL="12700" marR="463550">
              <a:lnSpc>
                <a:spcPct val="102600"/>
              </a:lnSpc>
              <a:spcBef>
                <a:spcPts val="55"/>
              </a:spcBef>
            </a:pPr>
            <a:endParaRPr sz="1000" spc="-10" dirty="0"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8453" y="1300783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8453" y="2797017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8454" y="2348761"/>
            <a:ext cx="65265" cy="6526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Abhishek,</a:t>
            </a:r>
            <a:r>
              <a:rPr spc="15" dirty="0"/>
              <a:t> </a:t>
            </a:r>
            <a:r>
              <a:rPr dirty="0"/>
              <a:t>Akshat,</a:t>
            </a:r>
            <a:r>
              <a:rPr spc="15" dirty="0"/>
              <a:t> </a:t>
            </a:r>
            <a:r>
              <a:rPr dirty="0"/>
              <a:t>Anoop,</a:t>
            </a:r>
            <a:r>
              <a:rPr spc="15" dirty="0"/>
              <a:t> </a:t>
            </a:r>
            <a:r>
              <a:rPr dirty="0"/>
              <a:t>Gaurav</a:t>
            </a:r>
            <a:r>
              <a:rPr spc="185" dirty="0"/>
              <a:t> </a:t>
            </a:r>
            <a:r>
              <a:rPr spc="-10" dirty="0"/>
              <a:t>(KIET)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81174" y="3351784"/>
            <a:ext cx="44577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6" action="ppaction://hlinksldjump"/>
              </a:rPr>
              <a:t>AyurPharma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xfrm>
            <a:off x="3409111" y="3351784"/>
            <a:ext cx="63372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IN" spc="-10" dirty="0"/>
              <a:t>MAY 4</a:t>
            </a:r>
            <a:r>
              <a:rPr lang="en-IN" dirty="0"/>
              <a:t>,</a:t>
            </a:r>
            <a:r>
              <a:rPr lang="en-IN" spc="-5" dirty="0"/>
              <a:t> </a:t>
            </a:r>
            <a:r>
              <a:rPr lang="en-IN" spc="-20" dirty="0"/>
              <a:t>2026</a:t>
            </a:r>
          </a:p>
          <a:p>
            <a:pPr marL="12700">
              <a:lnSpc>
                <a:spcPts val="675"/>
              </a:lnSpc>
            </a:pPr>
            <a:endParaRPr spc="-2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4299153" y="3351784"/>
            <a:ext cx="2540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6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</a:t>
            </a:r>
            <a:r>
              <a:rPr lang="en-IN" spc="-35" dirty="0"/>
              <a:t>5</a:t>
            </a:r>
            <a:endParaRPr spc="-35" dirty="0"/>
          </a:p>
        </p:txBody>
      </p:sp>
      <p:pic>
        <p:nvPicPr>
          <p:cNvPr id="17" name="object 6">
            <a:extLst>
              <a:ext uri="{FF2B5EF4-FFF2-40B4-BE49-F238E27FC236}">
                <a16:creationId xmlns:a16="http://schemas.microsoft.com/office/drawing/2014/main" id="{917A8A89-31A2-4A5F-1BCC-B211699EEFE1}"/>
              </a:ext>
            </a:extLst>
          </p:cNvPr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8453" y="1906382"/>
            <a:ext cx="65265" cy="65265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5" dirty="0"/>
              <a:t>Implementation</a:t>
            </a:r>
            <a:r>
              <a:rPr spc="20" dirty="0"/>
              <a:t> </a:t>
            </a:r>
            <a:r>
              <a:rPr spc="-10" dirty="0"/>
              <a:t>Details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75727"/>
            <a:ext cx="65265" cy="65265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228650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b="1" spc="-35" dirty="0">
                <a:latin typeface="Arial"/>
                <a:cs typeface="Arial"/>
              </a:rPr>
              <a:t>Front-</a:t>
            </a:r>
            <a:r>
              <a:rPr b="1" dirty="0">
                <a:latin typeface="Arial"/>
                <a:cs typeface="Arial"/>
              </a:rPr>
              <a:t>End:</a:t>
            </a:r>
            <a:r>
              <a:rPr b="1" spc="95" dirty="0">
                <a:latin typeface="Arial"/>
                <a:cs typeface="Arial"/>
              </a:rPr>
              <a:t> </a:t>
            </a:r>
            <a:r>
              <a:rPr spc="-10" dirty="0"/>
              <a:t>React</a:t>
            </a:r>
            <a:r>
              <a:rPr spc="-45" dirty="0"/>
              <a:t> </a:t>
            </a:r>
            <a:r>
              <a:rPr spc="-35" dirty="0"/>
              <a:t>and</a:t>
            </a:r>
            <a:r>
              <a:rPr spc="-40" dirty="0"/>
              <a:t> </a:t>
            </a:r>
            <a:r>
              <a:rPr spc="-20" dirty="0"/>
              <a:t>Tailwind</a:t>
            </a:r>
            <a:r>
              <a:rPr spc="-35" dirty="0"/>
              <a:t> </a:t>
            </a:r>
            <a:r>
              <a:rPr dirty="0"/>
              <a:t>CSS</a:t>
            </a:r>
            <a:r>
              <a:rPr spc="-40" dirty="0"/>
              <a:t> </a:t>
            </a:r>
            <a:r>
              <a:rPr spc="-20" dirty="0"/>
              <a:t>for</a:t>
            </a:r>
            <a:r>
              <a:rPr spc="-40" dirty="0"/>
              <a:t> </a:t>
            </a:r>
            <a:r>
              <a:rPr spc="-35" dirty="0"/>
              <a:t>symptom </a:t>
            </a:r>
            <a:r>
              <a:rPr spc="-10" dirty="0"/>
              <a:t>input</a:t>
            </a:r>
            <a:r>
              <a:rPr spc="-40" dirty="0"/>
              <a:t> </a:t>
            </a:r>
            <a:r>
              <a:rPr spc="-35" dirty="0"/>
              <a:t>and</a:t>
            </a:r>
            <a:r>
              <a:rPr spc="-40" dirty="0"/>
              <a:t> </a:t>
            </a:r>
            <a:r>
              <a:rPr spc="-10" dirty="0"/>
              <a:t>Prakriti questionnaire.</a:t>
            </a:r>
          </a:p>
          <a:p>
            <a:pPr marL="12700" marR="273050">
              <a:lnSpc>
                <a:spcPct val="102600"/>
              </a:lnSpc>
              <a:spcBef>
                <a:spcPts val="300"/>
              </a:spcBef>
            </a:pPr>
            <a:r>
              <a:rPr b="1" spc="-45" dirty="0">
                <a:latin typeface="Arial"/>
                <a:cs typeface="Arial"/>
              </a:rPr>
              <a:t>Back-</a:t>
            </a:r>
            <a:r>
              <a:rPr b="1" dirty="0">
                <a:latin typeface="Arial"/>
                <a:cs typeface="Arial"/>
              </a:rPr>
              <a:t>End:</a:t>
            </a:r>
            <a:r>
              <a:rPr b="1" spc="80" dirty="0">
                <a:latin typeface="Arial"/>
                <a:cs typeface="Arial"/>
              </a:rPr>
              <a:t> </a:t>
            </a:r>
            <a:r>
              <a:rPr spc="-30" dirty="0"/>
              <a:t>Node.js</a:t>
            </a:r>
            <a:r>
              <a:rPr spc="-45" dirty="0"/>
              <a:t> </a:t>
            </a:r>
            <a:r>
              <a:rPr dirty="0"/>
              <a:t>with</a:t>
            </a:r>
            <a:r>
              <a:rPr spc="-45" dirty="0"/>
              <a:t> </a:t>
            </a:r>
            <a:r>
              <a:rPr dirty="0"/>
              <a:t>Python</a:t>
            </a:r>
            <a:r>
              <a:rPr spc="-50" dirty="0"/>
              <a:t> </a:t>
            </a:r>
            <a:r>
              <a:rPr spc="-25" dirty="0"/>
              <a:t>integration</a:t>
            </a:r>
            <a:r>
              <a:rPr spc="-45" dirty="0"/>
              <a:t> </a:t>
            </a:r>
            <a:r>
              <a:rPr spc="-20" dirty="0"/>
              <a:t>for</a:t>
            </a:r>
            <a:r>
              <a:rPr spc="-50" dirty="0"/>
              <a:t> </a:t>
            </a:r>
            <a:r>
              <a:rPr spc="-10" dirty="0"/>
              <a:t>the</a:t>
            </a:r>
            <a:r>
              <a:rPr spc="-45" dirty="0"/>
              <a:t> </a:t>
            </a:r>
            <a:r>
              <a:rPr spc="70" dirty="0"/>
              <a:t>ML</a:t>
            </a:r>
            <a:r>
              <a:rPr spc="-50" dirty="0"/>
              <a:t> </a:t>
            </a:r>
            <a:r>
              <a:rPr spc="-35" dirty="0"/>
              <a:t>pipeline </a:t>
            </a:r>
            <a:r>
              <a:rPr dirty="0"/>
              <a:t>(LLM</a:t>
            </a:r>
            <a:r>
              <a:rPr spc="180" dirty="0"/>
              <a:t> </a:t>
            </a:r>
            <a:r>
              <a:rPr spc="-10" dirty="0"/>
              <a:t>Models).</a:t>
            </a: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b="1" spc="-25" dirty="0">
                <a:latin typeface="Arial"/>
                <a:cs typeface="Arial"/>
              </a:rPr>
              <a:t>Database:</a:t>
            </a:r>
            <a:r>
              <a:rPr b="1" spc="85" dirty="0">
                <a:latin typeface="Arial"/>
                <a:cs typeface="Arial"/>
              </a:rPr>
              <a:t> </a:t>
            </a:r>
            <a:r>
              <a:rPr dirty="0"/>
              <a:t>MongoDB</a:t>
            </a:r>
            <a:r>
              <a:rPr spc="-40" dirty="0"/>
              <a:t> </a:t>
            </a:r>
            <a:r>
              <a:rPr spc="-20" dirty="0"/>
              <a:t>for</a:t>
            </a:r>
            <a:r>
              <a:rPr spc="-35" dirty="0"/>
              <a:t> </a:t>
            </a:r>
            <a:r>
              <a:rPr spc="-55" dirty="0"/>
              <a:t>secure</a:t>
            </a:r>
            <a:r>
              <a:rPr spc="-35" dirty="0"/>
              <a:t> </a:t>
            </a:r>
            <a:r>
              <a:rPr spc="-45" dirty="0"/>
              <a:t>storage</a:t>
            </a:r>
            <a:r>
              <a:rPr spc="-35" dirty="0"/>
              <a:t> </a:t>
            </a:r>
            <a:r>
              <a:rPr dirty="0"/>
              <a:t>of</a:t>
            </a:r>
            <a:r>
              <a:rPr spc="-40" dirty="0"/>
              <a:t> herbal</a:t>
            </a:r>
            <a:r>
              <a:rPr spc="-35" dirty="0"/>
              <a:t> and</a:t>
            </a:r>
            <a:r>
              <a:rPr spc="-40" dirty="0"/>
              <a:t> </a:t>
            </a:r>
            <a:r>
              <a:rPr spc="-55" dirty="0"/>
              <a:t>user</a:t>
            </a:r>
            <a:r>
              <a:rPr spc="-30" dirty="0"/>
              <a:t> </a:t>
            </a:r>
            <a:r>
              <a:rPr spc="-10" dirty="0"/>
              <a:t>data.</a:t>
            </a: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657832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039937"/>
            <a:ext cx="65265" cy="65265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Abhishek,</a:t>
            </a:r>
            <a:r>
              <a:rPr spc="15" dirty="0"/>
              <a:t> </a:t>
            </a:r>
            <a:r>
              <a:rPr dirty="0"/>
              <a:t>Akshat,</a:t>
            </a:r>
            <a:r>
              <a:rPr spc="15" dirty="0"/>
              <a:t> </a:t>
            </a:r>
            <a:r>
              <a:rPr dirty="0"/>
              <a:t>Anoop,</a:t>
            </a:r>
            <a:r>
              <a:rPr spc="15" dirty="0"/>
              <a:t> </a:t>
            </a:r>
            <a:r>
              <a:rPr dirty="0"/>
              <a:t>Gaurav</a:t>
            </a:r>
            <a:r>
              <a:rPr spc="185" dirty="0"/>
              <a:t> </a:t>
            </a:r>
            <a:r>
              <a:rPr spc="-10" dirty="0"/>
              <a:t>(KIET)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2081174" y="3351784"/>
            <a:ext cx="44577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AyurPharma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3409111" y="3351784"/>
            <a:ext cx="63372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IN" spc="-10" dirty="0"/>
              <a:t>MAY 4</a:t>
            </a:r>
            <a:r>
              <a:rPr lang="en-IN" dirty="0"/>
              <a:t>,</a:t>
            </a:r>
            <a:r>
              <a:rPr lang="en-IN" spc="-5" dirty="0"/>
              <a:t> </a:t>
            </a:r>
            <a:r>
              <a:rPr lang="en-IN" spc="-20" dirty="0"/>
              <a:t>2026</a:t>
            </a:r>
          </a:p>
          <a:p>
            <a:pPr marL="12700">
              <a:lnSpc>
                <a:spcPts val="675"/>
              </a:lnSpc>
            </a:pPr>
            <a:endParaRPr spc="-20" dirty="0"/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4299153" y="3351784"/>
            <a:ext cx="2540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7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</a:t>
            </a:r>
            <a:r>
              <a:rPr lang="en-IN" spc="-35" dirty="0"/>
              <a:t>5</a:t>
            </a:r>
            <a:endParaRPr spc="-35" dirty="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A0105-F949-D8E8-3CBB-F46F842D0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380C25B-BE1F-3947-2305-FE5010EFED5F}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B2ABF4FB-22BE-4780-5ABC-29FA8F7A5E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3859529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pc="-65" dirty="0"/>
              <a:t>Flowchart</a:t>
            </a:r>
            <a:endParaRPr spc="-65" dirty="0"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3BC509E0-62BD-10E9-5CBC-9E157D67DEB1}"/>
              </a:ext>
            </a:extLst>
          </p:cNvPr>
          <p:cNvSpPr txBox="1"/>
          <p:nvPr/>
        </p:nvSpPr>
        <p:spPr>
          <a:xfrm>
            <a:off x="268516" y="1436497"/>
            <a:ext cx="3538854" cy="1561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685" marR="147955" indent="-134620">
              <a:lnSpc>
                <a:spcPct val="129700"/>
              </a:lnSpc>
              <a:spcBef>
                <a:spcPts val="100"/>
              </a:spcBef>
            </a:pPr>
            <a:r>
              <a:rPr sz="900" baseline="9259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r>
              <a:rPr sz="800" spc="-10" dirty="0">
                <a:latin typeface="Arial MT"/>
                <a:cs typeface="Arial MT"/>
              </a:rPr>
              <a:t>.</a:t>
            </a:r>
            <a:endParaRPr sz="800" dirty="0">
              <a:latin typeface="Arial MT"/>
              <a:cs typeface="Arial MT"/>
            </a:endParaRP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BF29CA40-02D6-8FA0-B97C-D00C0FA82A9D}"/>
              </a:ext>
            </a:extLst>
          </p:cNvPr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19A7CF64-18ED-8958-0637-B134ED9821CC}"/>
                </a:ext>
              </a:extLst>
            </p:cNvPr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94268BDE-FEA5-E834-03C6-9949717A363C}"/>
                </a:ext>
              </a:extLst>
            </p:cNvPr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DE81CD92-D6CE-A21B-6EFF-AFA5E1C8FDF4}"/>
                </a:ext>
              </a:extLst>
            </p:cNvPr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>
            <a:extLst>
              <a:ext uri="{FF2B5EF4-FFF2-40B4-BE49-F238E27FC236}">
                <a16:creationId xmlns:a16="http://schemas.microsoft.com/office/drawing/2014/main" id="{1C9F8382-A245-081C-B21F-1324C92542AD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Abhishek,</a:t>
            </a:r>
            <a:r>
              <a:rPr spc="15" dirty="0"/>
              <a:t> </a:t>
            </a:r>
            <a:r>
              <a:rPr dirty="0"/>
              <a:t>Akshat,</a:t>
            </a:r>
            <a:r>
              <a:rPr spc="15" dirty="0"/>
              <a:t> </a:t>
            </a:r>
            <a:r>
              <a:rPr dirty="0"/>
              <a:t>Anoop,</a:t>
            </a:r>
            <a:r>
              <a:rPr spc="15" dirty="0"/>
              <a:t> </a:t>
            </a:r>
            <a:r>
              <a:rPr dirty="0"/>
              <a:t>Gaurav</a:t>
            </a:r>
            <a:r>
              <a:rPr spc="185" dirty="0"/>
              <a:t> </a:t>
            </a:r>
            <a:r>
              <a:rPr spc="-10" dirty="0"/>
              <a:t>(KIET)</a:t>
            </a: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3A2694EB-BF8D-2B33-5EC3-AE97BB7DAF98}"/>
              </a:ext>
            </a:extLst>
          </p:cNvPr>
          <p:cNvSpPr txBox="1"/>
          <p:nvPr/>
        </p:nvSpPr>
        <p:spPr>
          <a:xfrm>
            <a:off x="2081174" y="3351784"/>
            <a:ext cx="44577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AyurPharma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78EC8C76-B728-A76B-EBFE-1002F273FA85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3409111" y="3351784"/>
            <a:ext cx="63372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IN" spc="-10" dirty="0"/>
              <a:t>MAY 4</a:t>
            </a:r>
            <a:r>
              <a:rPr lang="en-IN" dirty="0"/>
              <a:t>,</a:t>
            </a:r>
            <a:r>
              <a:rPr lang="en-IN" spc="-5" dirty="0"/>
              <a:t> </a:t>
            </a:r>
            <a:r>
              <a:rPr lang="en-IN" spc="-20" dirty="0"/>
              <a:t>2026</a:t>
            </a:r>
          </a:p>
          <a:p>
            <a:pPr marL="12700">
              <a:lnSpc>
                <a:spcPts val="675"/>
              </a:lnSpc>
            </a:pPr>
            <a:endParaRPr spc="-20"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F3694D60-84BE-48F7-B242-F67109C06346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4299153" y="3351784"/>
            <a:ext cx="2540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8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</a:t>
            </a:r>
            <a:r>
              <a:rPr lang="en-IN" spc="-35" dirty="0"/>
              <a:t>5</a:t>
            </a:r>
            <a:endParaRPr spc="-35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F406322-B504-335B-EE2B-E53CB47571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79" y="511175"/>
            <a:ext cx="4610100" cy="2548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147221"/>
      </p:ext>
    </p:extLst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D9238A-F8A5-22A0-F328-F53ABF28D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FA639FCA-549E-884F-8E87-67BCB939593C}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6EA20DA3-1463-793F-97C0-CEFEA1F7F3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3859529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pc="-55" dirty="0"/>
              <a:t>Results and Discussions (1/3)</a:t>
            </a:r>
            <a:endParaRPr spc="-1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4963C37E-CD2B-06D3-6948-8B242F8CE94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75727"/>
            <a:ext cx="65265" cy="6526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E51ECAEA-C82D-D37A-E3FE-F6A1C8E592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2932" y="970608"/>
            <a:ext cx="4043045" cy="1926925"/>
          </a:xfrm>
          <a:prstGeom prst="rect">
            <a:avLst/>
          </a:prstGeom>
        </p:spPr>
        <p:txBody>
          <a:bodyPr vert="horz" wrap="square" lIns="0" tIns="228650" rIns="0" bIns="0" rtlCol="0">
            <a:spAutoFit/>
          </a:bodyPr>
          <a:lstStyle/>
          <a:p>
            <a:r>
              <a:rPr lang="en-US" b="1" dirty="0"/>
              <a:t>Model Performance</a:t>
            </a:r>
            <a:endParaRPr lang="en-US" dirty="0"/>
          </a:p>
          <a:p>
            <a:r>
              <a:rPr lang="en-US" dirty="0"/>
              <a:t>Accuracy: </a:t>
            </a:r>
            <a:r>
              <a:rPr lang="en-US" b="1" dirty="0"/>
              <a:t>84–87%</a:t>
            </a:r>
            <a:r>
              <a:rPr lang="en-US" dirty="0"/>
              <a:t> </a:t>
            </a:r>
          </a:p>
          <a:p>
            <a:r>
              <a:rPr lang="en-US" dirty="0"/>
              <a:t>High agreement with expert evaluation </a:t>
            </a:r>
          </a:p>
          <a:p>
            <a:r>
              <a:rPr lang="en-US" b="1" dirty="0"/>
              <a:t>User Feedback</a:t>
            </a:r>
            <a:endParaRPr lang="en-US" dirty="0"/>
          </a:p>
          <a:p>
            <a:r>
              <a:rPr lang="en-US" dirty="0"/>
              <a:t>90% users found recommendations relevant</a:t>
            </a:r>
          </a:p>
          <a:p>
            <a:r>
              <a:rPr lang="en-US" b="1" dirty="0"/>
              <a:t>Key Strengths</a:t>
            </a:r>
            <a:endParaRPr lang="en-US" dirty="0"/>
          </a:p>
          <a:p>
            <a:r>
              <a:rPr lang="en-US" dirty="0"/>
              <a:t>Context-aware responses </a:t>
            </a:r>
          </a:p>
          <a:p>
            <a:r>
              <a:rPr lang="en-US" dirty="0"/>
              <a:t>Personalized healthcare insights </a:t>
            </a:r>
          </a:p>
          <a:p>
            <a:r>
              <a:rPr lang="en-US" dirty="0"/>
              <a:t>Improved interpretability using knowledge graphs</a:t>
            </a:r>
          </a:p>
          <a:p>
            <a:pPr marL="12700" marR="5080">
              <a:lnSpc>
                <a:spcPct val="102600"/>
              </a:lnSpc>
              <a:spcBef>
                <a:spcPts val="55"/>
              </a:spcBef>
            </a:pPr>
            <a:endParaRPr spc="-10" dirty="0"/>
          </a:p>
        </p:txBody>
      </p:sp>
      <p:pic>
        <p:nvPicPr>
          <p:cNvPr id="6" name="object 6">
            <a:extLst>
              <a:ext uri="{FF2B5EF4-FFF2-40B4-BE49-F238E27FC236}">
                <a16:creationId xmlns:a16="http://schemas.microsoft.com/office/drawing/2014/main" id="{0946821E-F1C4-0AB1-3DFF-075A6BF65AD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1750974"/>
            <a:ext cx="65265" cy="65265"/>
          </a:xfrm>
          <a:prstGeom prst="rect">
            <a:avLst/>
          </a:prstGeom>
        </p:spPr>
      </p:pic>
      <p:pic>
        <p:nvPicPr>
          <p:cNvPr id="7" name="object 7">
            <a:extLst>
              <a:ext uri="{FF2B5EF4-FFF2-40B4-BE49-F238E27FC236}">
                <a16:creationId xmlns:a16="http://schemas.microsoft.com/office/drawing/2014/main" id="{605DD5D3-EEFB-6C29-1A1C-F6106C84786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099680"/>
            <a:ext cx="65265" cy="65265"/>
          </a:xfrm>
          <a:prstGeom prst="rect">
            <a:avLst/>
          </a:prstGeom>
        </p:spPr>
      </p:pic>
      <p:grpSp>
        <p:nvGrpSpPr>
          <p:cNvPr id="8" name="object 8">
            <a:extLst>
              <a:ext uri="{FF2B5EF4-FFF2-40B4-BE49-F238E27FC236}">
                <a16:creationId xmlns:a16="http://schemas.microsoft.com/office/drawing/2014/main" id="{10DF724E-69DA-8466-82FF-773507284F3F}"/>
              </a:ext>
            </a:extLst>
          </p:cNvPr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6F2DAD26-CFC1-CE07-3513-18510549D10F}"/>
                </a:ext>
              </a:extLst>
            </p:cNvPr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C4AE5A47-C101-7838-96E7-984047711D17}"/>
                </a:ext>
              </a:extLst>
            </p:cNvPr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143A0DD2-2E07-13B7-A478-69D840FFCFE4}"/>
                </a:ext>
              </a:extLst>
            </p:cNvPr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>
            <a:extLst>
              <a:ext uri="{FF2B5EF4-FFF2-40B4-BE49-F238E27FC236}">
                <a16:creationId xmlns:a16="http://schemas.microsoft.com/office/drawing/2014/main" id="{44BFA631-83B7-A037-A2CB-CD14A30FCA1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Abhishek,</a:t>
            </a:r>
            <a:r>
              <a:rPr spc="15" dirty="0"/>
              <a:t> </a:t>
            </a:r>
            <a:r>
              <a:rPr dirty="0"/>
              <a:t>Akshat,</a:t>
            </a:r>
            <a:r>
              <a:rPr spc="15" dirty="0"/>
              <a:t> </a:t>
            </a:r>
            <a:r>
              <a:rPr dirty="0"/>
              <a:t>Anoop,</a:t>
            </a:r>
            <a:r>
              <a:rPr spc="15" dirty="0"/>
              <a:t> </a:t>
            </a:r>
            <a:r>
              <a:rPr dirty="0"/>
              <a:t>Gaurav</a:t>
            </a:r>
            <a:r>
              <a:rPr spc="185" dirty="0"/>
              <a:t> </a:t>
            </a:r>
            <a:r>
              <a:rPr spc="-10" dirty="0"/>
              <a:t>(KIET)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68F111C8-85FE-A66D-2814-7B4F8AC2C4F3}"/>
              </a:ext>
            </a:extLst>
          </p:cNvPr>
          <p:cNvSpPr txBox="1"/>
          <p:nvPr/>
        </p:nvSpPr>
        <p:spPr>
          <a:xfrm>
            <a:off x="2081174" y="3351784"/>
            <a:ext cx="44577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AyurPharma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F50B9D7F-C254-D332-1729-7E09186BE76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3409111" y="3351784"/>
            <a:ext cx="63372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IN" spc="-10" dirty="0"/>
              <a:t>MAY 4</a:t>
            </a:r>
            <a:r>
              <a:rPr lang="en-IN" dirty="0"/>
              <a:t>,</a:t>
            </a:r>
            <a:r>
              <a:rPr lang="en-IN" spc="-5" dirty="0"/>
              <a:t> </a:t>
            </a:r>
            <a:r>
              <a:rPr lang="en-IN" spc="-20" dirty="0"/>
              <a:t>2026</a:t>
            </a:r>
          </a:p>
          <a:p>
            <a:pPr marL="12700">
              <a:lnSpc>
                <a:spcPts val="675"/>
              </a:lnSpc>
            </a:pPr>
            <a:endParaRPr spc="-20"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63F1DC56-C513-156D-B61B-D7DC54FB8D3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4299153" y="3351784"/>
            <a:ext cx="2540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9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</a:t>
            </a:r>
            <a:r>
              <a:rPr lang="en-IN" spc="-35" dirty="0"/>
              <a:t>5</a:t>
            </a:r>
            <a:endParaRPr spc="-35" dirty="0"/>
          </a:p>
        </p:txBody>
      </p:sp>
    </p:spTree>
    <p:extLst>
      <p:ext uri="{BB962C8B-B14F-4D97-AF65-F5344CB8AC3E}">
        <p14:creationId xmlns:p14="http://schemas.microsoft.com/office/powerpoint/2010/main" val="246403976"/>
      </p:ext>
    </p:extLst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25A44-D135-33AB-E7AB-502CC0F472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AF623F18-3950-750C-58C3-B787162A5CFC}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339769C-AD77-D0CD-B41B-A4E43BDEC5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3859529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lang="en-IN" spc="-55" dirty="0"/>
              <a:t>Results and Discussions (2/3)</a:t>
            </a:r>
            <a:endParaRPr spc="-10" dirty="0"/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58BEE83C-6CDB-4692-2250-2D1DF072368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089" y="1275727"/>
            <a:ext cx="65265" cy="65265"/>
          </a:xfrm>
          <a:prstGeom prst="rect">
            <a:avLst/>
          </a:prstGeom>
        </p:spPr>
      </p:pic>
      <p:sp>
        <p:nvSpPr>
          <p:cNvPr id="5" name="object 5">
            <a:extLst>
              <a:ext uri="{FF2B5EF4-FFF2-40B4-BE49-F238E27FC236}">
                <a16:creationId xmlns:a16="http://schemas.microsoft.com/office/drawing/2014/main" id="{23C2CA76-A59C-4CC6-BF26-41A4C255D4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02932" y="970608"/>
            <a:ext cx="4043045" cy="1926925"/>
          </a:xfrm>
          <a:prstGeom prst="rect">
            <a:avLst/>
          </a:prstGeom>
        </p:spPr>
        <p:txBody>
          <a:bodyPr vert="horz" wrap="square" lIns="0" tIns="228650" rIns="0" bIns="0" rtlCol="0">
            <a:spAutoFit/>
          </a:bodyPr>
          <a:lstStyle/>
          <a:p>
            <a:r>
              <a:rPr lang="en-US" b="1" dirty="0"/>
              <a:t>Performance Metrics</a:t>
            </a:r>
            <a:endParaRPr lang="en-US" dirty="0"/>
          </a:p>
          <a:p>
            <a:r>
              <a:rPr lang="en-US" dirty="0"/>
              <a:t>Top-1 Accuracy: 0.81 </a:t>
            </a:r>
          </a:p>
          <a:p>
            <a:r>
              <a:rPr lang="en-US" dirty="0"/>
              <a:t>Top-3 Accuracy: 1.00 </a:t>
            </a:r>
          </a:p>
          <a:p>
            <a:r>
              <a:rPr lang="en-US" dirty="0"/>
              <a:t>Top-5 Accuracy: 1.00 </a:t>
            </a:r>
          </a:p>
          <a:p>
            <a:r>
              <a:rPr lang="en-US" dirty="0"/>
              <a:t>End-to-End Accuracy: 0.84 </a:t>
            </a:r>
          </a:p>
          <a:p>
            <a:r>
              <a:rPr lang="en-US" b="1" dirty="0"/>
              <a:t>Observations</a:t>
            </a:r>
            <a:endParaRPr lang="en-US" dirty="0"/>
          </a:p>
          <a:p>
            <a:r>
              <a:rPr lang="en-US" dirty="0"/>
              <a:t>High symptom detection accuracy </a:t>
            </a:r>
          </a:p>
          <a:p>
            <a:r>
              <a:rPr lang="en-US" dirty="0"/>
              <a:t>Scalable and stable system </a:t>
            </a:r>
          </a:p>
          <a:p>
            <a:r>
              <a:rPr lang="en-US" dirty="0"/>
              <a:t>Multi-model approach improves performance</a:t>
            </a:r>
          </a:p>
          <a:p>
            <a:pPr marL="12700" marR="5080">
              <a:lnSpc>
                <a:spcPct val="102600"/>
              </a:lnSpc>
              <a:spcBef>
                <a:spcPts val="55"/>
              </a:spcBef>
            </a:pPr>
            <a:endParaRPr spc="-10" dirty="0"/>
          </a:p>
        </p:txBody>
      </p:sp>
      <p:pic>
        <p:nvPicPr>
          <p:cNvPr id="7" name="object 7">
            <a:extLst>
              <a:ext uri="{FF2B5EF4-FFF2-40B4-BE49-F238E27FC236}">
                <a16:creationId xmlns:a16="http://schemas.microsoft.com/office/drawing/2014/main" id="{8B1DC340-FA9C-C17E-0009-06AA2596508F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1089" y="2099680"/>
            <a:ext cx="65265" cy="65265"/>
          </a:xfrm>
          <a:prstGeom prst="rect">
            <a:avLst/>
          </a:prstGeom>
        </p:spPr>
      </p:pic>
      <p:grpSp>
        <p:nvGrpSpPr>
          <p:cNvPr id="8" name="object 8">
            <a:extLst>
              <a:ext uri="{FF2B5EF4-FFF2-40B4-BE49-F238E27FC236}">
                <a16:creationId xmlns:a16="http://schemas.microsoft.com/office/drawing/2014/main" id="{6698F874-076D-CF45-DA05-4571D630C4E6}"/>
              </a:ext>
            </a:extLst>
          </p:cNvPr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>
              <a:extLst>
                <a:ext uri="{FF2B5EF4-FFF2-40B4-BE49-F238E27FC236}">
                  <a16:creationId xmlns:a16="http://schemas.microsoft.com/office/drawing/2014/main" id="{3D6DA2FE-1F1C-D393-F2CF-9AB41E05D3B0}"/>
                </a:ext>
              </a:extLst>
            </p:cNvPr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>
              <a:extLst>
                <a:ext uri="{FF2B5EF4-FFF2-40B4-BE49-F238E27FC236}">
                  <a16:creationId xmlns:a16="http://schemas.microsoft.com/office/drawing/2014/main" id="{AAD6710D-5EAD-CF17-A1F3-CD3588463956}"/>
                </a:ext>
              </a:extLst>
            </p:cNvPr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>
              <a:extLst>
                <a:ext uri="{FF2B5EF4-FFF2-40B4-BE49-F238E27FC236}">
                  <a16:creationId xmlns:a16="http://schemas.microsoft.com/office/drawing/2014/main" id="{BF4E9F0D-A849-50F3-2652-0EF2BA1A2D4C}"/>
                </a:ext>
              </a:extLst>
            </p:cNvPr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>
            <a:extLst>
              <a:ext uri="{FF2B5EF4-FFF2-40B4-BE49-F238E27FC236}">
                <a16:creationId xmlns:a16="http://schemas.microsoft.com/office/drawing/2014/main" id="{897F547C-8BA5-E769-D9E0-9088AA1C5118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Abhishek,</a:t>
            </a:r>
            <a:r>
              <a:rPr spc="15" dirty="0"/>
              <a:t> </a:t>
            </a:r>
            <a:r>
              <a:rPr dirty="0"/>
              <a:t>Akshat,</a:t>
            </a:r>
            <a:r>
              <a:rPr spc="15" dirty="0"/>
              <a:t> </a:t>
            </a:r>
            <a:r>
              <a:rPr dirty="0"/>
              <a:t>Anoop,</a:t>
            </a:r>
            <a:r>
              <a:rPr spc="15" dirty="0"/>
              <a:t> </a:t>
            </a:r>
            <a:r>
              <a:rPr dirty="0"/>
              <a:t>Gaurav</a:t>
            </a:r>
            <a:r>
              <a:rPr spc="185" dirty="0"/>
              <a:t> </a:t>
            </a:r>
            <a:r>
              <a:rPr spc="-10" dirty="0"/>
              <a:t>(KIET)</a:t>
            </a: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D7DF4568-22F5-A23F-147F-E5486C3082E7}"/>
              </a:ext>
            </a:extLst>
          </p:cNvPr>
          <p:cNvSpPr txBox="1"/>
          <p:nvPr/>
        </p:nvSpPr>
        <p:spPr>
          <a:xfrm>
            <a:off x="2081174" y="3351784"/>
            <a:ext cx="44577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4" action="ppaction://hlinksldjump"/>
              </a:rPr>
              <a:t>AyurPharma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83AFC866-0DB7-DF54-797B-D345ED0CBCEF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3409111" y="3351784"/>
            <a:ext cx="63372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IN" spc="-10" dirty="0"/>
              <a:t>MAY 4</a:t>
            </a:r>
            <a:r>
              <a:rPr lang="en-IN" dirty="0"/>
              <a:t>,</a:t>
            </a:r>
            <a:r>
              <a:rPr lang="en-IN" spc="-5" dirty="0"/>
              <a:t> </a:t>
            </a:r>
            <a:r>
              <a:rPr lang="en-IN" spc="-20" dirty="0"/>
              <a:t>2026</a:t>
            </a:r>
          </a:p>
          <a:p>
            <a:pPr marL="12700">
              <a:lnSpc>
                <a:spcPts val="675"/>
              </a:lnSpc>
            </a:pPr>
            <a:endParaRPr spc="-20" dirty="0"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9D89E9F2-3FB2-867D-DBC9-F80EAE092DA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4299153" y="3351784"/>
            <a:ext cx="2540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10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</a:t>
            </a:r>
            <a:r>
              <a:rPr lang="en-IN" spc="-35" dirty="0"/>
              <a:t>5</a:t>
            </a:r>
            <a:endParaRPr spc="-35" dirty="0"/>
          </a:p>
        </p:txBody>
      </p:sp>
    </p:spTree>
    <p:extLst>
      <p:ext uri="{BB962C8B-B14F-4D97-AF65-F5344CB8AC3E}">
        <p14:creationId xmlns:p14="http://schemas.microsoft.com/office/powerpoint/2010/main" val="861798531"/>
      </p:ext>
    </p:extLst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578485"/>
          </a:xfrm>
          <a:custGeom>
            <a:avLst/>
            <a:gdLst/>
            <a:ahLst/>
            <a:cxnLst/>
            <a:rect l="l" t="t" r="r" b="b"/>
            <a:pathLst>
              <a:path w="4608195" h="578485">
                <a:moveTo>
                  <a:pt x="4608004" y="0"/>
                </a:moveTo>
                <a:lnTo>
                  <a:pt x="0" y="0"/>
                </a:lnTo>
                <a:lnTo>
                  <a:pt x="0" y="577862"/>
                </a:lnTo>
                <a:lnTo>
                  <a:pt x="4608004" y="577862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3859529" cy="212366"/>
          </a:xfrm>
          <a:prstGeom prst="rect">
            <a:avLst/>
          </a:prstGeom>
        </p:spPr>
        <p:txBody>
          <a:bodyPr vert="horz" wrap="square" lIns="0" tIns="2540" rIns="0" bIns="0" rtlCol="0">
            <a:spAutoFit/>
          </a:bodyPr>
          <a:lstStyle/>
          <a:p>
            <a:pPr marL="12700" marR="5080">
              <a:lnSpc>
                <a:spcPct val="106700"/>
              </a:lnSpc>
              <a:spcBef>
                <a:spcPts val="20"/>
              </a:spcBef>
            </a:pPr>
            <a:r>
              <a:rPr lang="en-IN" spc="-20" dirty="0"/>
              <a:t>Results and Discussions (3/3)</a:t>
            </a:r>
            <a:endParaRPr spc="-10" dirty="0"/>
          </a:p>
        </p:txBody>
      </p:sp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Abhishek,</a:t>
            </a:r>
            <a:r>
              <a:rPr spc="15" dirty="0"/>
              <a:t> </a:t>
            </a:r>
            <a:r>
              <a:rPr dirty="0"/>
              <a:t>Akshat,</a:t>
            </a:r>
            <a:r>
              <a:rPr spc="15" dirty="0"/>
              <a:t> </a:t>
            </a:r>
            <a:r>
              <a:rPr dirty="0"/>
              <a:t>Anoop,</a:t>
            </a:r>
            <a:r>
              <a:rPr spc="15" dirty="0"/>
              <a:t> </a:t>
            </a:r>
            <a:r>
              <a:rPr dirty="0"/>
              <a:t>Gaurav</a:t>
            </a:r>
            <a:r>
              <a:rPr spc="185" dirty="0"/>
              <a:t> </a:t>
            </a:r>
            <a:r>
              <a:rPr spc="-10" dirty="0"/>
              <a:t>(KIET)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81174" y="3351784"/>
            <a:ext cx="44577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AyurPharma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xfrm>
            <a:off x="3409111" y="3351784"/>
            <a:ext cx="63372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IN" spc="-10" dirty="0"/>
              <a:t>MAY 4</a:t>
            </a:r>
            <a:r>
              <a:rPr lang="en-IN" dirty="0"/>
              <a:t>,</a:t>
            </a:r>
            <a:r>
              <a:rPr lang="en-IN" spc="-5" dirty="0"/>
              <a:t> </a:t>
            </a:r>
            <a:r>
              <a:rPr lang="en-IN" spc="-20" dirty="0"/>
              <a:t>2026</a:t>
            </a:r>
          </a:p>
          <a:p>
            <a:pPr marL="12700">
              <a:lnSpc>
                <a:spcPts val="675"/>
              </a:lnSpc>
            </a:pPr>
            <a:endParaRPr spc="-2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4299153" y="3351784"/>
            <a:ext cx="2540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11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</a:t>
            </a:r>
            <a:r>
              <a:rPr lang="en-IN" spc="-35" dirty="0"/>
              <a:t>5</a:t>
            </a:r>
            <a:endParaRPr spc="-35" dirty="0"/>
          </a:p>
        </p:txBody>
      </p:sp>
      <p:pic>
        <p:nvPicPr>
          <p:cNvPr id="3074" name="Image 2">
            <a:extLst>
              <a:ext uri="{FF2B5EF4-FFF2-40B4-BE49-F238E27FC236}">
                <a16:creationId xmlns:a16="http://schemas.microsoft.com/office/drawing/2014/main" id="{C2446145-BB4A-714C-D619-EE76F5071017}"/>
              </a:ext>
            </a:extLst>
          </p:cNvPr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4471"/>
            <a:ext cx="2246115" cy="164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2">
            <a:extLst>
              <a:ext uri="{FF2B5EF4-FFF2-40B4-BE49-F238E27FC236}">
                <a16:creationId xmlns:a16="http://schemas.microsoft.com/office/drawing/2014/main" id="{4DF80F12-29E2-7F07-FA2C-6ECC30F50B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6115" y="574151"/>
            <a:ext cx="2246116" cy="166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FEC4624-AA97-C9B2-3ECB-06C694FF4DDE}"/>
              </a:ext>
            </a:extLst>
          </p:cNvPr>
          <p:cNvSpPr txBox="1"/>
          <p:nvPr/>
        </p:nvSpPr>
        <p:spPr>
          <a:xfrm>
            <a:off x="689269" y="2236264"/>
            <a:ext cx="84670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CURVE 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B9E73BF-D84E-133A-D3BD-F717E252B146}"/>
              </a:ext>
            </a:extLst>
          </p:cNvPr>
          <p:cNvSpPr txBox="1"/>
          <p:nvPr/>
        </p:nvSpPr>
        <p:spPr>
          <a:xfrm>
            <a:off x="2972533" y="2225946"/>
            <a:ext cx="9299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ROC CURVE 2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5300" y="59878"/>
            <a:ext cx="3859529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Conclusion</a:t>
            </a:r>
            <a:r>
              <a:rPr lang="en-IN" spc="-35" dirty="0"/>
              <a:t> and Future Scope</a:t>
            </a:r>
            <a:endParaRPr spc="-35" dirty="0"/>
          </a:p>
        </p:txBody>
      </p:sp>
      <p:sp>
        <p:nvSpPr>
          <p:cNvPr id="5" name="object 5"/>
          <p:cNvSpPr txBox="1">
            <a:spLocks noGrp="1"/>
          </p:cNvSpPr>
          <p:nvPr>
            <p:ph type="body" idx="1"/>
          </p:nvPr>
        </p:nvSpPr>
        <p:spPr>
          <a:xfrm>
            <a:off x="383108" y="892175"/>
            <a:ext cx="4043045" cy="2220632"/>
          </a:xfrm>
          <a:prstGeom prst="rect">
            <a:avLst/>
          </a:prstGeom>
        </p:spPr>
        <p:txBody>
          <a:bodyPr vert="horz" wrap="square" lIns="0" tIns="217956" rIns="0" bIns="0" rtlCol="0">
            <a:spAutoFit/>
          </a:bodyPr>
          <a:lstStyle/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integrates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Ayurveda + AI + ML + NLP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Provides: </a:t>
            </a:r>
          </a:p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recommendations </a:t>
            </a: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Scalable &amp; interpretable system </a:t>
            </a: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real-world applicability </a:t>
            </a:r>
          </a:p>
          <a:p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trials &amp; validation </a:t>
            </a: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NLP support </a:t>
            </a: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with: </a:t>
            </a: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Wearables &amp; IoT </a:t>
            </a:r>
          </a:p>
          <a:p>
            <a:pPr lvl="1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Electronic Health Records (EHR) </a:t>
            </a:r>
          </a:p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Improved data standardization &amp; ethics</a:t>
            </a:r>
            <a:endParaRPr sz="10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6186" y="1147396"/>
            <a:ext cx="65265" cy="6526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6185" y="1478363"/>
            <a:ext cx="65265" cy="65265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81089" y="2062721"/>
            <a:ext cx="65265" cy="65265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Abhishek,</a:t>
            </a:r>
            <a:r>
              <a:rPr spc="15" dirty="0"/>
              <a:t> </a:t>
            </a:r>
            <a:r>
              <a:rPr dirty="0"/>
              <a:t>Akshat,</a:t>
            </a:r>
            <a:r>
              <a:rPr spc="15" dirty="0"/>
              <a:t> </a:t>
            </a:r>
            <a:r>
              <a:rPr dirty="0"/>
              <a:t>Anoop,</a:t>
            </a:r>
            <a:r>
              <a:rPr spc="15" dirty="0"/>
              <a:t> </a:t>
            </a:r>
            <a:r>
              <a:rPr dirty="0"/>
              <a:t>Gaurav</a:t>
            </a:r>
            <a:r>
              <a:rPr spc="185" dirty="0"/>
              <a:t> </a:t>
            </a:r>
            <a:r>
              <a:rPr spc="-10" dirty="0"/>
              <a:t>(KIET)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2081174" y="3351784"/>
            <a:ext cx="44577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5" action="ppaction://hlinksldjump"/>
              </a:rPr>
              <a:t>AyurPharma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xfrm>
            <a:off x="3409111" y="3351784"/>
            <a:ext cx="63372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IN" spc="-10" dirty="0"/>
              <a:t>MAY 4</a:t>
            </a:r>
            <a:r>
              <a:rPr lang="en-IN" dirty="0"/>
              <a:t>,</a:t>
            </a:r>
            <a:r>
              <a:rPr lang="en-IN" spc="-5" dirty="0"/>
              <a:t> </a:t>
            </a:r>
            <a:r>
              <a:rPr lang="en-IN" spc="-20" dirty="0"/>
              <a:t>2026</a:t>
            </a:r>
          </a:p>
          <a:p>
            <a:pPr marL="12700">
              <a:lnSpc>
                <a:spcPts val="675"/>
              </a:lnSpc>
            </a:pPr>
            <a:endParaRPr spc="-2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4299153" y="3351784"/>
            <a:ext cx="2540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12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</a:t>
            </a:r>
            <a:r>
              <a:rPr lang="en-IN" spc="-35" dirty="0"/>
              <a:t>5</a:t>
            </a:r>
            <a:endParaRPr spc="-35" dirty="0"/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Key</a:t>
            </a:r>
            <a:r>
              <a:rPr spc="-20" dirty="0"/>
              <a:t> </a:t>
            </a:r>
            <a:r>
              <a:rPr spc="-65" dirty="0"/>
              <a:t>References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68516" y="1436497"/>
            <a:ext cx="3538854" cy="15619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6685" marR="147955" indent="-134620">
              <a:lnSpc>
                <a:spcPct val="129700"/>
              </a:lnSpc>
              <a:spcBef>
                <a:spcPts val="100"/>
              </a:spcBef>
            </a:pPr>
            <a:r>
              <a:rPr sz="900" baseline="9259" dirty="0">
                <a:solidFill>
                  <a:srgbClr val="FFFFFF"/>
                </a:solidFill>
                <a:latin typeface="Arial MT"/>
                <a:cs typeface="Arial MT"/>
              </a:rPr>
              <a:t>2</a:t>
            </a:r>
            <a:r>
              <a:rPr sz="800" spc="-10" dirty="0">
                <a:latin typeface="Arial MT"/>
                <a:cs typeface="Arial MT"/>
              </a:rPr>
              <a:t>.</a:t>
            </a:r>
            <a:endParaRPr sz="800" dirty="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4" name="object 14"/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Abhishek,</a:t>
            </a:r>
            <a:r>
              <a:rPr spc="15" dirty="0"/>
              <a:t> </a:t>
            </a:r>
            <a:r>
              <a:rPr dirty="0"/>
              <a:t>Akshat,</a:t>
            </a:r>
            <a:r>
              <a:rPr spc="15" dirty="0"/>
              <a:t> </a:t>
            </a:r>
            <a:r>
              <a:rPr dirty="0"/>
              <a:t>Anoop,</a:t>
            </a:r>
            <a:r>
              <a:rPr spc="15" dirty="0"/>
              <a:t> </a:t>
            </a:r>
            <a:r>
              <a:rPr dirty="0"/>
              <a:t>Gaurav</a:t>
            </a:r>
            <a:r>
              <a:rPr spc="185" dirty="0"/>
              <a:t> </a:t>
            </a:r>
            <a:r>
              <a:rPr spc="-10" dirty="0"/>
              <a:t>(KIET)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2081174" y="3351784"/>
            <a:ext cx="44577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AyurPharma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dt" sz="half" idx="6"/>
          </p:nvPr>
        </p:nvSpPr>
        <p:spPr>
          <a:xfrm>
            <a:off x="3409111" y="3351784"/>
            <a:ext cx="63372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IN" spc="-10" dirty="0"/>
              <a:t>MAY 4</a:t>
            </a:r>
            <a:r>
              <a:rPr lang="en-IN" dirty="0"/>
              <a:t>,</a:t>
            </a:r>
            <a:r>
              <a:rPr lang="en-IN" spc="-5" dirty="0"/>
              <a:t> </a:t>
            </a:r>
            <a:r>
              <a:rPr lang="en-IN" spc="-20" dirty="0"/>
              <a:t>2026</a:t>
            </a:r>
          </a:p>
          <a:p>
            <a:pPr marL="12700">
              <a:lnSpc>
                <a:spcPts val="675"/>
              </a:lnSpc>
            </a:pPr>
            <a:endParaRPr spc="-20" dirty="0"/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xfrm>
            <a:off x="4299153" y="3351784"/>
            <a:ext cx="2540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13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</a:t>
            </a:r>
            <a:r>
              <a:rPr lang="en-IN" spc="-35" dirty="0"/>
              <a:t>5</a:t>
            </a:r>
            <a:endParaRPr spc="-35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47BF878-51F2-E001-9418-1EA3426BD41E}"/>
              </a:ext>
            </a:extLst>
          </p:cNvPr>
          <p:cNvSpPr txBox="1"/>
          <p:nvPr/>
        </p:nvSpPr>
        <p:spPr>
          <a:xfrm>
            <a:off x="1238250" y="480510"/>
            <a:ext cx="2308166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/>
              <a:t>[1] P. Balachandran and R. Govindarajan, "Ayurvedic drug discovery: potentials and challenges," Dept. of Phytochemistry, Central Re-search Institute of Ayurveda, India, 2007.</a:t>
            </a:r>
          </a:p>
          <a:p>
            <a:r>
              <a:rPr lang="en-IN" sz="800" dirty="0"/>
              <a:t> [2] B. Patwardhan, A. Vaidya, M. Chorghade, et al., "Policy </a:t>
            </a:r>
            <a:r>
              <a:rPr lang="en-IN" sz="800" dirty="0" err="1"/>
              <a:t>recommen</a:t>
            </a:r>
            <a:r>
              <a:rPr lang="en-IN" sz="800" dirty="0"/>
              <a:t>-dations for Ayurveda formulations safety," Interdisciplinary School of Health Sciences, Pune University, India, 2017. </a:t>
            </a:r>
          </a:p>
          <a:p>
            <a:r>
              <a:rPr lang="en-IN" sz="800" dirty="0"/>
              <a:t>[3] R. Sudheer Kumar, P. Sharma, V. Nair, and S. Gupta, "Development of an Ayurvedic disease prediction and drug recommendation system using ML models," IIT Delhi, India, 2024.</a:t>
            </a:r>
          </a:p>
          <a:p>
            <a:r>
              <a:rPr lang="en-IN" sz="800" dirty="0"/>
              <a:t> [4] H. Singh, A. Sharma, S. Bhardwaj, et al., "Big data analytics of Ayurveda: evidence from 353,000 patient records," New Delhi Institute of Medical Sciences, India, 2018. </a:t>
            </a:r>
          </a:p>
          <a:p>
            <a:r>
              <a:rPr lang="en-IN" sz="800" dirty="0"/>
              <a:t>[5] A. Verma, R. Sinha, and K. Yadav, "Conceptual framework for Ayurveda integration with modern medicine," BHU, India, 2024. 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E597A6-2E98-7037-621C-A54E13304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99F5AE8-AB13-E71B-A989-07A6B85E4A6A}"/>
              </a:ext>
            </a:extLst>
          </p:cNvPr>
          <p:cNvSpPr/>
          <p:nvPr/>
        </p:nvSpPr>
        <p:spPr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B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0A75AF1-F6D3-4A7F-8D72-A1D0A79BFB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Key</a:t>
            </a:r>
            <a:r>
              <a:rPr spc="-20" dirty="0"/>
              <a:t> </a:t>
            </a:r>
            <a:r>
              <a:rPr spc="-65" dirty="0"/>
              <a:t>References</a:t>
            </a: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B9AD5A07-DEDE-9BAF-83BE-A774C4C264E8}"/>
              </a:ext>
            </a:extLst>
          </p:cNvPr>
          <p:cNvGrpSpPr/>
          <p:nvPr/>
        </p:nvGrpSpPr>
        <p:grpSpPr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4" name="object 14">
              <a:extLst>
                <a:ext uri="{FF2B5EF4-FFF2-40B4-BE49-F238E27FC236}">
                  <a16:creationId xmlns:a16="http://schemas.microsoft.com/office/drawing/2014/main" id="{004092C3-5487-EA8D-769B-130FABB6A226}"/>
                </a:ext>
              </a:extLst>
            </p:cNvPr>
            <p:cNvSpPr/>
            <p:nvPr/>
          </p:nvSpPr>
          <p:spPr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1919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>
              <a:extLst>
                <a:ext uri="{FF2B5EF4-FFF2-40B4-BE49-F238E27FC236}">
                  <a16:creationId xmlns:a16="http://schemas.microsoft.com/office/drawing/2014/main" id="{F3AAE2CC-3B85-5594-FC7B-F2EDEA3178C2}"/>
                </a:ext>
              </a:extLst>
            </p:cNvPr>
            <p:cNvSpPr/>
            <p:nvPr/>
          </p:nvSpPr>
          <p:spPr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26268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>
              <a:extLst>
                <a:ext uri="{FF2B5EF4-FFF2-40B4-BE49-F238E27FC236}">
                  <a16:creationId xmlns:a16="http://schemas.microsoft.com/office/drawing/2014/main" id="{4C93A0A0-1B3B-DA24-032C-2AFCA6080B07}"/>
                </a:ext>
              </a:extLst>
            </p:cNvPr>
            <p:cNvSpPr/>
            <p:nvPr/>
          </p:nvSpPr>
          <p:spPr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3333B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>
            <a:extLst>
              <a:ext uri="{FF2B5EF4-FFF2-40B4-BE49-F238E27FC236}">
                <a16:creationId xmlns:a16="http://schemas.microsoft.com/office/drawing/2014/main" id="{8951A01F-3825-2093-4E01-F2DEDEEB12A5}"/>
              </a:ext>
            </a:extLst>
          </p:cNvPr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Abhishek,</a:t>
            </a:r>
            <a:r>
              <a:rPr spc="15" dirty="0"/>
              <a:t> </a:t>
            </a:r>
            <a:r>
              <a:rPr dirty="0"/>
              <a:t>Akshat,</a:t>
            </a:r>
            <a:r>
              <a:rPr spc="15" dirty="0"/>
              <a:t> </a:t>
            </a:r>
            <a:r>
              <a:rPr dirty="0"/>
              <a:t>Anoop,</a:t>
            </a:r>
            <a:r>
              <a:rPr spc="15" dirty="0"/>
              <a:t> </a:t>
            </a:r>
            <a:r>
              <a:rPr dirty="0"/>
              <a:t>Gaurav</a:t>
            </a:r>
            <a:r>
              <a:rPr spc="185" dirty="0"/>
              <a:t> </a:t>
            </a:r>
            <a:r>
              <a:rPr spc="-10" dirty="0"/>
              <a:t>(KIET)</a:t>
            </a:r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F89520A9-EC1C-7626-39F4-782CB874413B}"/>
              </a:ext>
            </a:extLst>
          </p:cNvPr>
          <p:cNvSpPr txBox="1"/>
          <p:nvPr/>
        </p:nvSpPr>
        <p:spPr>
          <a:xfrm>
            <a:off x="2081174" y="3351784"/>
            <a:ext cx="44577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AyurPharma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3255898F-CAE5-955F-EE47-EC57D6718AA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3409111" y="3351784"/>
            <a:ext cx="63372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IN" spc="-10" dirty="0"/>
              <a:t>MAY 4</a:t>
            </a:r>
            <a:r>
              <a:rPr lang="en-IN" dirty="0"/>
              <a:t>,</a:t>
            </a:r>
            <a:r>
              <a:rPr lang="en-IN" spc="-5" dirty="0"/>
              <a:t> </a:t>
            </a:r>
            <a:r>
              <a:rPr lang="en-IN" spc="-20" dirty="0"/>
              <a:t>2026</a:t>
            </a:r>
          </a:p>
          <a:p>
            <a:pPr marL="12700">
              <a:lnSpc>
                <a:spcPts val="675"/>
              </a:lnSpc>
            </a:pPr>
            <a:endParaRPr spc="-20" dirty="0"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BF0CC264-BCA7-3775-41EF-45C31FDE4399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4299153" y="3351784"/>
            <a:ext cx="2540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fld id="{81D60167-4931-47E6-BA6A-407CBD079E47}" type="slidenum">
              <a:rPr spc="-30" dirty="0"/>
              <a:t>14</a:t>
            </a:fld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</a:t>
            </a:r>
            <a:r>
              <a:rPr lang="en-IN" spc="-35" dirty="0"/>
              <a:t>5</a:t>
            </a:r>
            <a:endParaRPr spc="-35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8AA6E9-615F-119E-ABF8-A706D7CA3BCE}"/>
              </a:ext>
            </a:extLst>
          </p:cNvPr>
          <p:cNvSpPr txBox="1"/>
          <p:nvPr/>
        </p:nvSpPr>
        <p:spPr>
          <a:xfrm>
            <a:off x="1314450" y="395100"/>
            <a:ext cx="230816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800" dirty="0"/>
              <a:t>[6] R. Gupta, "Integrative healthcare models: Bridging Ayurveda and modern medicine," AIIMS, New Delhi, India, 2024. </a:t>
            </a:r>
          </a:p>
          <a:p>
            <a:r>
              <a:rPr lang="en-IN" sz="800" dirty="0"/>
              <a:t>[7] M. </a:t>
            </a:r>
            <a:r>
              <a:rPr lang="en-IN" sz="800" dirty="0" err="1"/>
              <a:t>Maniruzzaman</a:t>
            </a:r>
            <a:r>
              <a:rPr lang="en-IN" sz="800" dirty="0"/>
              <a:t>, A. Das, and S. Rahman, "Ayurveda in sports medicine: clinical and experimental findings," Dhaka University, Bangladesh, 2025. </a:t>
            </a:r>
          </a:p>
          <a:p>
            <a:r>
              <a:rPr lang="en-IN" sz="800" dirty="0"/>
              <a:t>[8] R. R. Patil, U. Ruby, C. B. N., S. Jain, and G. K., "Artificial Intelligence in Healthcare: Applications of ML, DL, and Fuzzy Systems," GITAM School of Tech., India; VIT Bhopal University, India, 2022. </a:t>
            </a:r>
          </a:p>
          <a:p>
            <a:r>
              <a:rPr lang="en-IN" sz="800" dirty="0"/>
              <a:t>[9] International Journal of Ayurveda Research, "Artificial Intelligence in Ayurveda: Opportunities and challenges," Editorial Board, Ministry of AYUSH, Govt. of India, 2023. </a:t>
            </a:r>
          </a:p>
          <a:p>
            <a:r>
              <a:rPr lang="en-IN" sz="800" dirty="0"/>
              <a:t>[10] Z. Afsar, N. R., V. K. R., S. K., M. Manjunatha, R. P. M., and G. B., "Modern Concepts of Integrating Artificial Intelligence with Traditional and Herbal Medicine: A Review," Int. J. Sci. R. Tech., vol. 2, no. 2, pp. 43–49, 2025 </a:t>
            </a:r>
          </a:p>
        </p:txBody>
      </p:sp>
    </p:spTree>
    <p:extLst>
      <p:ext uri="{BB962C8B-B14F-4D97-AF65-F5344CB8AC3E}">
        <p14:creationId xmlns:p14="http://schemas.microsoft.com/office/powerpoint/2010/main" val="1257860930"/>
      </p:ext>
    </p:extLst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41780" y="1038871"/>
            <a:ext cx="1725930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b="1" dirty="0">
                <a:solidFill>
                  <a:srgbClr val="000000"/>
                </a:solidFill>
                <a:latin typeface="Arial"/>
                <a:cs typeface="Arial"/>
              </a:rPr>
              <a:t>Thank</a:t>
            </a:r>
            <a:r>
              <a:rPr sz="2450" b="1" spc="150" dirty="0">
                <a:solidFill>
                  <a:srgbClr val="000000"/>
                </a:solidFill>
                <a:latin typeface="Arial"/>
                <a:cs typeface="Arial"/>
              </a:rPr>
              <a:t> </a:t>
            </a:r>
            <a:r>
              <a:rPr sz="2450" b="1" spc="-25" dirty="0">
                <a:solidFill>
                  <a:srgbClr val="000000"/>
                </a:solidFill>
                <a:latin typeface="Arial"/>
                <a:cs typeface="Arial"/>
              </a:rPr>
              <a:t>You!</a:t>
            </a:r>
            <a:endParaRPr sz="245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pc="-10" dirty="0"/>
              <a:t>Abhishek,</a:t>
            </a:r>
            <a:r>
              <a:rPr spc="15" dirty="0"/>
              <a:t> </a:t>
            </a:r>
            <a:r>
              <a:rPr dirty="0"/>
              <a:t>Akshat,</a:t>
            </a:r>
            <a:r>
              <a:rPr spc="15" dirty="0"/>
              <a:t> </a:t>
            </a:r>
            <a:r>
              <a:rPr dirty="0"/>
              <a:t>Anoop,</a:t>
            </a:r>
            <a:r>
              <a:rPr spc="15" dirty="0"/>
              <a:t> </a:t>
            </a:r>
            <a:r>
              <a:rPr dirty="0"/>
              <a:t>Gaurav</a:t>
            </a:r>
            <a:r>
              <a:rPr spc="185" dirty="0"/>
              <a:t> </a:t>
            </a:r>
            <a:r>
              <a:rPr spc="-10" dirty="0"/>
              <a:t>(KIET)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081174" y="3351784"/>
            <a:ext cx="445770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FFFFFF"/>
                </a:solidFill>
                <a:latin typeface="Arial MT"/>
                <a:cs typeface="Arial MT"/>
                <a:hlinkClick r:id="rId2" action="ppaction://hlinksldjump"/>
              </a:rPr>
              <a:t>AyurPharma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dt" sz="half" idx="6"/>
          </p:nvPr>
        </p:nvSpPr>
        <p:spPr>
          <a:xfrm>
            <a:off x="3409111" y="3351784"/>
            <a:ext cx="633729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IN" spc="-10" dirty="0"/>
              <a:t>MAY 4</a:t>
            </a:r>
            <a:r>
              <a:rPr lang="en-IN" dirty="0"/>
              <a:t>,</a:t>
            </a:r>
            <a:r>
              <a:rPr lang="en-IN" spc="-5" dirty="0"/>
              <a:t> </a:t>
            </a:r>
            <a:r>
              <a:rPr lang="en-IN" spc="-20" dirty="0"/>
              <a:t>2026</a:t>
            </a:r>
          </a:p>
          <a:p>
            <a:pPr marL="12700">
              <a:lnSpc>
                <a:spcPts val="675"/>
              </a:lnSpc>
            </a:pPr>
            <a:endParaRPr spc="-20" dirty="0"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4286250" y="3351784"/>
            <a:ext cx="254000" cy="8976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lang="en-IN" spc="-55" dirty="0"/>
              <a:t>15</a:t>
            </a:r>
            <a:r>
              <a:rPr spc="-55" dirty="0"/>
              <a:t> </a:t>
            </a:r>
            <a:r>
              <a:rPr spc="150" dirty="0"/>
              <a:t>/</a:t>
            </a:r>
            <a:r>
              <a:rPr spc="-55" dirty="0"/>
              <a:t> </a:t>
            </a:r>
            <a:r>
              <a:rPr spc="-35" dirty="0"/>
              <a:t>1</a:t>
            </a:r>
            <a:r>
              <a:rPr lang="en-IN" spc="-35" dirty="0"/>
              <a:t>5</a:t>
            </a:r>
            <a:endParaRPr spc="-35" dirty="0"/>
          </a:p>
        </p:txBody>
      </p:sp>
      <p:sp>
        <p:nvSpPr>
          <p:cNvPr id="3" name="object 3"/>
          <p:cNvSpPr txBox="1"/>
          <p:nvPr/>
        </p:nvSpPr>
        <p:spPr>
          <a:xfrm>
            <a:off x="1953590" y="1632023"/>
            <a:ext cx="70104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50" dirty="0">
                <a:latin typeface="Tahoma"/>
                <a:cs typeface="Tahoma"/>
              </a:rPr>
              <a:t>Questions?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886</TotalTime>
  <Words>1575</Words>
  <Application>Microsoft Office PowerPoint</Application>
  <PresentationFormat>Custom</PresentationFormat>
  <Paragraphs>250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Arial MT</vt:lpstr>
      <vt:lpstr>Cambria</vt:lpstr>
      <vt:lpstr>Tahoma</vt:lpstr>
      <vt:lpstr>Times New Roman</vt:lpstr>
      <vt:lpstr>Office Theme</vt:lpstr>
      <vt:lpstr>PowerPoint Presentation</vt:lpstr>
      <vt:lpstr>Introduction</vt:lpstr>
      <vt:lpstr>Problem Statement and Objectives </vt:lpstr>
      <vt:lpstr>PowerPoint Presentation</vt:lpstr>
      <vt:lpstr>PowerPoint Presentation</vt:lpstr>
      <vt:lpstr>Proposed Algorithm and Methodology</vt:lpstr>
      <vt:lpstr>Implementation Details</vt:lpstr>
      <vt:lpstr>Flowchart</vt:lpstr>
      <vt:lpstr>Results and Discussions (1/3)</vt:lpstr>
      <vt:lpstr>Results and Discussions (2/3)</vt:lpstr>
      <vt:lpstr>Results and Discussions (3/3)</vt:lpstr>
      <vt:lpstr>Conclusion and Future Scope</vt:lpstr>
      <vt:lpstr>Key References</vt:lpstr>
      <vt:lpstr>Key 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AyurPharma: Bridging Ancient Wisdom with Modern Medicine - Major Project (8th Semester)</dc:title>
  <dc:creator>Abhishek, Akshat, Anoop, Gaurav</dc:creator>
  <cp:lastModifiedBy>Akshat Sharma</cp:lastModifiedBy>
  <cp:revision>6</cp:revision>
  <dcterms:created xsi:type="dcterms:W3CDTF">2026-04-15T08:09:29Z</dcterms:created>
  <dcterms:modified xsi:type="dcterms:W3CDTF">2026-05-04T06:12:57Z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2026-02-23T00:00:00Z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2026-04-15T00:00:00Z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